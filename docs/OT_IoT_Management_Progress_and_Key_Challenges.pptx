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This update covers progress in OT/IoT device onboarding and reporting, plus two remaining challenges: security-tag delivery and secure vendor access. The focus is on what is working, what remains unresolved, and where cross-team support is needed.</a:t>
            </a:r>
          </a:p>
          <a:p/>
          <a:p>
            <a:r>
              <a:t>SOURCE NOTES</a:t>
            </a:r>
          </a:p>
          <a:p>
            <a:r>
              <a:t>Content source: User-provided briefing. External sources: None used. Visual sources: Original diagrams and simple icons created with native PowerPoint shapes; no external image assets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standardized path is operating steadily. The reported volume is 30 requests and 92 devices onboarded since the process stabilized on 03 July 2026. Firewall policy requests need at least one week of lead time so Local IT and relevant teams can align before escalation to CentralOps. Formal role ownership and notification specifics were not confirmed from source documents in this session.</a:t>
            </a:r>
          </a:p>
          <a:p/>
          <a:p>
            <a:r>
              <a:t>SOURCE NOTES</a:t>
            </a:r>
          </a:p>
          <a:p>
            <a:r>
              <a:t>Content source: User-provided briefing. External sources: None used. Visual source: Original process flow and KPI cards built with native PowerPoint shapes. The two referenced PDFs were not available in the accessible attachments at creation time; verify formal process labels, roles, and notification details against the latest PDFs.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groups the input fields listed in the briefing into four practical sections: identity, network profile, communication requirements, and firewall details. Ask requesters to include source and destination IPs, protocol, port, purpose, and service name where relevant. Exact field labels and mandatory/optional status need to be checked against the official onboarding file.</a:t>
            </a:r>
          </a:p>
          <a:p/>
          <a:p>
            <a:r>
              <a:t>SOURCE NOTES</a:t>
            </a:r>
          </a:p>
          <a:p>
            <a:r>
              <a:t>Content source: User-provided briefing. External sources: None used. Visual source: Original four-card checklist created with native PowerPoint shapes. The referenced Chinese form-description PDF was not available in the accessible attachments at creation time; field groupings reflect the supplied brief and are not represented as a verified extraction from that PDF.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reporting model integrates two primary data sources, supported by manually maintained reference data. Source files are uploaded through the Upload App, then consolidated in the database for reporting. The current design gives centralized reporting visibility, but it still depends on periodic file uploads and manual reference tables. Improvement should focus on consistency, automation, and reducing manual maintenance rather than implying a fully automated pipeline.</a:t>
            </a:r>
          </a:p>
          <a:p/>
          <a:p>
            <a:r>
              <a:t>SOURCE NOTES</a:t>
            </a:r>
          </a:p>
          <a:p>
            <a:r>
              <a:t>Content source: User-provided briefing. External sources: None used. Visual sources: Original diagrams and simple icons created with native PowerPoint shapes; no external image assets used.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issue is still open and under investigation under RITM1404207. The observed behavior is that re-authentication was followed by Cisco ISE sending the required security tags to IDC, but the firewall did not receive or apply the tags as expected. The unresolved question is why end-to-end tag delivery did not complete and which component owns corrective action. Do not assign root cause to IDC, ISE, the firewall, or a team until evidence confirms it. Latest logs, named owner, workaround, meeting outcomes, and detailed investigation updates were not provided.</a:t>
            </a:r>
          </a:p>
          <a:p/>
          <a:p>
            <a:r>
              <a:t>SOURCE NOTES</a:t>
            </a:r>
          </a:p>
          <a:p>
            <a:r>
              <a:t>Content source: User-provided briefing. External sources: None used. Visual source: Original end-to-end chain diagram and status cards built with native PowerPoint shapes. Root cause is intentionally shown as unconfirmed.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OT vendor access commonly depends on being connected from inside the company network. This can require an onsite visit even when the technical work could otherwise be remote. The requirement is not to open the OT network broadly. It is to provide identity-based, approved, least-privilege access to named resources, for a limited period, with strong authentication, monitoring, and audit records.</a:t>
            </a:r>
          </a:p>
          <a:p/>
          <a:p>
            <a:r>
              <a:t>SOURCE NOTES</a:t>
            </a:r>
          </a:p>
          <a:p>
            <a:r>
              <a:t>Content source: User-provided briefing. External sources: None used. Visual sources: Original diagrams and simple icons created with native PowerPoint shapes; no external image assets used.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Point SASE is a potential/candidate solution under evaluation, not a selected production design. CentralOps would like to test remote access for China. Preparation is proposed for the holiday week, including firewall preparation and starting the environment. After the holiday, schedule a POC meeting and test the OT use case. Validate identity-based controls, least privilege, specific resource access, third-party and unmanaged-device support, central policy, monitoring/audit, China compatibility, OT protocols, and whether a jump server is required. Wuxi or Chu Yi may need to support testing depending on availability.</a:t>
            </a:r>
          </a:p>
          <a:p/>
          <a:p>
            <a:r>
              <a:t>SOURCE NOTES</a:t>
            </a:r>
          </a:p>
          <a:p>
            <a:r>
              <a:t>Content source: User-provided briefing. External sources: None used. Visual source: Original candidate access flow, checklist and POC timeline created with native PowerPoint shapes. Check Point SASE is represented only as a potential solution / candidate solution / proof of concept under evaluation.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three requests. First, keep using the standardized onboarding process while improving consistency and reducing manual work in reporting. Second, ensure cross-team ownership for RITM1404207 and continue end-to-end evidence collection without presuming root cause. Third, align on the OT-focused SASE POC, including controlled scope, access approval, automatic expiry, and audit. The POC outcome should inform—not pre-empt—a production decision.</a:t>
            </a:r>
          </a:p>
          <a:p/>
          <a:p>
            <a:r>
              <a:t>SOURCE NOTES</a:t>
            </a:r>
          </a:p>
          <a:p>
            <a:r>
              <a:t>Content source: User-provided briefing. External sources: None used. Visual sources: Original diagrams and simple icons created with native PowerPoint shapes; no external image assets used.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4E5A"/>
        </a:solidFill>
        <a:effectLst/>
      </p:bgPr>
    </p:bg>
    <p:spTree>
      <p:nvGrpSpPr>
        <p:cNvPr id="1" name=""/>
        <p:cNvGrpSpPr/>
        <p:nvPr/>
      </p:nvGrpSpPr>
      <p:grpSpPr/>
      <p:sp>
        <p:nvSpPr>
          <p:cNvPr id="2" name="Rectangle 1"/>
          <p:cNvSpPr/>
          <p:nvPr/>
        </p:nvSpPr>
        <p:spPr>
          <a:xfrm>
            <a:off x="7909560" y="0"/>
            <a:ext cx="4279392" cy="6858000"/>
          </a:xfrm>
          <a:prstGeom prst="rect">
            <a:avLst/>
          </a:prstGeom>
          <a:solidFill>
            <a:srgbClr val="073F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449056" y="630936"/>
            <a:ext cx="658368" cy="658368"/>
          </a:xfrm>
          <a:prstGeom prst="ellipse">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369296" y="1380744"/>
            <a:ext cx="384048" cy="384048"/>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272016" y="2368296"/>
            <a:ext cx="749808" cy="749808"/>
          </a:xfrm>
          <a:prstGeom prst="ellipse">
            <a:avLst/>
          </a:prstGeom>
          <a:solidFill>
            <a:srgbClr val="0E6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80776" y="3511296"/>
            <a:ext cx="566928" cy="566928"/>
          </a:xfrm>
          <a:prstGeom prst="ellipse">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421624" y="4535424"/>
            <a:ext cx="438912" cy="438912"/>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829800" y="5166360"/>
            <a:ext cx="640080" cy="640080"/>
          </a:xfrm>
          <a:prstGeom prst="ellipse">
            <a:avLst/>
          </a:prstGeom>
          <a:solidFill>
            <a:srgbClr val="0E6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8778240" y="960120"/>
            <a:ext cx="1783080" cy="612648"/>
          </a:xfrm>
          <a:prstGeom prst="line">
            <a:avLst/>
          </a:prstGeom>
          <a:ln w="22860">
            <a:solidFill>
              <a:srgbClr val="6287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9646920" y="1572768"/>
            <a:ext cx="914400" cy="1170432"/>
          </a:xfrm>
          <a:prstGeom prst="line">
            <a:avLst/>
          </a:prstGeom>
          <a:ln w="22860">
            <a:solidFill>
              <a:srgbClr val="6287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646920" y="2743200"/>
            <a:ext cx="1417320" cy="1051560"/>
          </a:xfrm>
          <a:prstGeom prst="line">
            <a:avLst/>
          </a:prstGeom>
          <a:ln w="22860">
            <a:solidFill>
              <a:srgbClr val="6287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641080" y="3794760"/>
            <a:ext cx="2423160" cy="960120"/>
          </a:xfrm>
          <a:prstGeom prst="line">
            <a:avLst/>
          </a:prstGeom>
          <a:ln w="22860">
            <a:solidFill>
              <a:srgbClr val="6287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641080" y="4754880"/>
            <a:ext cx="1508760" cy="731520"/>
          </a:xfrm>
          <a:prstGeom prst="line">
            <a:avLst/>
          </a:prstGeom>
          <a:ln w="22860">
            <a:solidFill>
              <a:srgbClr val="6287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641080" y="2743200"/>
            <a:ext cx="1005840" cy="2011680"/>
          </a:xfrm>
          <a:prstGeom prst="line">
            <a:avLst/>
          </a:prstGeom>
          <a:ln w="22860">
            <a:solidFill>
              <a:srgbClr val="62878A"/>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58368" y="731520"/>
            <a:ext cx="713232" cy="54864"/>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1051560"/>
            <a:ext cx="6858000" cy="1371600"/>
          </a:xfrm>
          <a:prstGeom prst="rect">
            <a:avLst/>
          </a:prstGeom>
          <a:noFill/>
        </p:spPr>
        <p:txBody>
          <a:bodyPr wrap="square" lIns="0" rIns="0" tIns="0" bIns="0" anchor="t">
            <a:spAutoFit/>
          </a:bodyPr>
          <a:lstStyle/>
          <a:p>
            <a:pPr algn="l">
              <a:spcBef>
                <a:spcPts val="0"/>
              </a:spcBef>
              <a:spcAft>
                <a:spcPts val="0"/>
              </a:spcAft>
            </a:pPr>
            <a:r>
              <a:rPr sz="3400" b="1" i="0">
                <a:solidFill>
                  <a:srgbClr val="FFFFFF"/>
                </a:solidFill>
                <a:latin typeface="Aptos Display"/>
              </a:rPr>
              <a:t>OT/IoT Management
Progress and Key Challenges</a:t>
            </a:r>
          </a:p>
        </p:txBody>
      </p:sp>
      <p:sp>
        <p:nvSpPr>
          <p:cNvPr id="17" name="TextBox 16"/>
          <p:cNvSpPr txBox="1"/>
          <p:nvPr/>
        </p:nvSpPr>
        <p:spPr>
          <a:xfrm>
            <a:off x="685800" y="2697480"/>
            <a:ext cx="6492240" cy="411480"/>
          </a:xfrm>
          <a:prstGeom prst="rect">
            <a:avLst/>
          </a:prstGeom>
          <a:noFill/>
        </p:spPr>
        <p:txBody>
          <a:bodyPr wrap="square" lIns="0" rIns="0" tIns="0" bIns="0" anchor="t">
            <a:spAutoFit/>
          </a:bodyPr>
          <a:lstStyle/>
          <a:p>
            <a:pPr algn="l">
              <a:spcBef>
                <a:spcPts val="0"/>
              </a:spcBef>
              <a:spcAft>
                <a:spcPts val="0"/>
              </a:spcAft>
            </a:pPr>
            <a:r>
              <a:rPr sz="1700" b="0" i="0">
                <a:solidFill>
                  <a:srgbClr val="D4E0E1"/>
                </a:solidFill>
                <a:latin typeface="Aptos"/>
              </a:rPr>
              <a:t>Device onboarding, data visibility and secure vendor access</a:t>
            </a:r>
          </a:p>
        </p:txBody>
      </p:sp>
      <p:sp>
        <p:nvSpPr>
          <p:cNvPr id="18" name="Rounded Rectangle 17"/>
          <p:cNvSpPr/>
          <p:nvPr/>
        </p:nvSpPr>
        <p:spPr>
          <a:xfrm>
            <a:off x="685800" y="4160520"/>
            <a:ext cx="2121408" cy="1143000"/>
          </a:xfrm>
          <a:prstGeom prst="roundRect">
            <a:avLst/>
          </a:prstGeom>
          <a:solidFill>
            <a:srgbClr val="0B5A66"/>
          </a:solidFill>
          <a:ln w="12700">
            <a:solidFill>
              <a:srgbClr val="2B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 y="4297680"/>
            <a:ext cx="384048" cy="256032"/>
          </a:xfrm>
          <a:prstGeom prst="rect">
            <a:avLst/>
          </a:prstGeom>
          <a:noFill/>
        </p:spPr>
        <p:txBody>
          <a:bodyPr wrap="square" lIns="0" rIns="0" tIns="0" bIns="0" anchor="t">
            <a:spAutoFit/>
          </a:bodyPr>
          <a:lstStyle/>
          <a:p>
            <a:pPr algn="l">
              <a:spcBef>
                <a:spcPts val="0"/>
              </a:spcBef>
              <a:spcAft>
                <a:spcPts val="0"/>
              </a:spcAft>
            </a:pPr>
            <a:r>
              <a:rPr sz="1100" b="1" i="0">
                <a:solidFill>
                  <a:srgbClr val="E1B77E"/>
                </a:solidFill>
                <a:latin typeface="Aptos"/>
              </a:rPr>
              <a:t>01</a:t>
            </a:r>
          </a:p>
        </p:txBody>
      </p:sp>
      <p:sp>
        <p:nvSpPr>
          <p:cNvPr id="20" name="Rectangle 19"/>
          <p:cNvSpPr/>
          <p:nvPr/>
        </p:nvSpPr>
        <p:spPr>
          <a:xfrm>
            <a:off x="832104" y="4645152"/>
            <a:ext cx="347472" cy="32004"/>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 y="4745736"/>
            <a:ext cx="1856231" cy="420624"/>
          </a:xfrm>
          <a:prstGeom prst="rect">
            <a:avLst/>
          </a:prstGeom>
          <a:noFill/>
        </p:spPr>
        <p:txBody>
          <a:bodyPr wrap="square" lIns="0" rIns="0" tIns="0" bIns="0" anchor="t">
            <a:spAutoFit/>
          </a:bodyPr>
          <a:lstStyle/>
          <a:p>
            <a:pPr algn="l">
              <a:spcBef>
                <a:spcPts val="0"/>
              </a:spcBef>
              <a:spcAft>
                <a:spcPts val="0"/>
              </a:spcAft>
            </a:pPr>
            <a:r>
              <a:rPr sz="1350" b="1" i="0">
                <a:solidFill>
                  <a:srgbClr val="FFFFFF"/>
                </a:solidFill>
                <a:latin typeface="Aptos"/>
              </a:rPr>
              <a:t>Standardized
onboarding</a:t>
            </a:r>
          </a:p>
        </p:txBody>
      </p:sp>
      <p:sp>
        <p:nvSpPr>
          <p:cNvPr id="22" name="Rounded Rectangle 21"/>
          <p:cNvSpPr/>
          <p:nvPr/>
        </p:nvSpPr>
        <p:spPr>
          <a:xfrm>
            <a:off x="3017520" y="4160520"/>
            <a:ext cx="2121408" cy="1143000"/>
          </a:xfrm>
          <a:prstGeom prst="roundRect">
            <a:avLst/>
          </a:prstGeom>
          <a:solidFill>
            <a:srgbClr val="0B5A66"/>
          </a:solidFill>
          <a:ln w="12700">
            <a:solidFill>
              <a:srgbClr val="2B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63824" y="4297680"/>
            <a:ext cx="384048" cy="256032"/>
          </a:xfrm>
          <a:prstGeom prst="rect">
            <a:avLst/>
          </a:prstGeom>
          <a:noFill/>
        </p:spPr>
        <p:txBody>
          <a:bodyPr wrap="square" lIns="0" rIns="0" tIns="0" bIns="0" anchor="t">
            <a:spAutoFit/>
          </a:bodyPr>
          <a:lstStyle/>
          <a:p>
            <a:pPr algn="l">
              <a:spcBef>
                <a:spcPts val="0"/>
              </a:spcBef>
              <a:spcAft>
                <a:spcPts val="0"/>
              </a:spcAft>
            </a:pPr>
            <a:r>
              <a:rPr sz="1100" b="1" i="0">
                <a:solidFill>
                  <a:srgbClr val="A1A984"/>
                </a:solidFill>
                <a:latin typeface="Aptos"/>
              </a:rPr>
              <a:t>02</a:t>
            </a:r>
          </a:p>
        </p:txBody>
      </p:sp>
      <p:sp>
        <p:nvSpPr>
          <p:cNvPr id="24" name="Rectangle 23"/>
          <p:cNvSpPr/>
          <p:nvPr/>
        </p:nvSpPr>
        <p:spPr>
          <a:xfrm>
            <a:off x="3163824" y="4645152"/>
            <a:ext cx="347472" cy="32004"/>
          </a:xfrm>
          <a:prstGeom prst="rect">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63824" y="4745736"/>
            <a:ext cx="1856231" cy="420624"/>
          </a:xfrm>
          <a:prstGeom prst="rect">
            <a:avLst/>
          </a:prstGeom>
          <a:noFill/>
        </p:spPr>
        <p:txBody>
          <a:bodyPr wrap="square" lIns="0" rIns="0" tIns="0" bIns="0" anchor="t">
            <a:spAutoFit/>
          </a:bodyPr>
          <a:lstStyle/>
          <a:p>
            <a:pPr algn="l">
              <a:spcBef>
                <a:spcPts val="0"/>
              </a:spcBef>
              <a:spcAft>
                <a:spcPts val="0"/>
              </a:spcAft>
            </a:pPr>
            <a:r>
              <a:rPr sz="1350" b="1" i="0">
                <a:solidFill>
                  <a:srgbClr val="FFFFFF"/>
                </a:solidFill>
                <a:latin typeface="Aptos"/>
              </a:rPr>
              <a:t>Improved device
visibility</a:t>
            </a:r>
          </a:p>
        </p:txBody>
      </p:sp>
      <p:sp>
        <p:nvSpPr>
          <p:cNvPr id="26" name="Rounded Rectangle 25"/>
          <p:cNvSpPr/>
          <p:nvPr/>
        </p:nvSpPr>
        <p:spPr>
          <a:xfrm>
            <a:off x="5349240" y="4160520"/>
            <a:ext cx="2121408" cy="1143000"/>
          </a:xfrm>
          <a:prstGeom prst="roundRect">
            <a:avLst/>
          </a:prstGeom>
          <a:solidFill>
            <a:srgbClr val="0B5A66"/>
          </a:solidFill>
          <a:ln w="12700">
            <a:solidFill>
              <a:srgbClr val="2B70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95544" y="4297680"/>
            <a:ext cx="384048" cy="256032"/>
          </a:xfrm>
          <a:prstGeom prst="rect">
            <a:avLst/>
          </a:prstGeom>
          <a:noFill/>
        </p:spPr>
        <p:txBody>
          <a:bodyPr wrap="square" lIns="0" rIns="0" tIns="0" bIns="0" anchor="t">
            <a:spAutoFit/>
          </a:bodyPr>
          <a:lstStyle/>
          <a:p>
            <a:pPr algn="l">
              <a:spcBef>
                <a:spcPts val="0"/>
              </a:spcBef>
              <a:spcAft>
                <a:spcPts val="0"/>
              </a:spcAft>
            </a:pPr>
            <a:r>
              <a:rPr sz="1100" b="1" i="0">
                <a:solidFill>
                  <a:srgbClr val="FFFFFF"/>
                </a:solidFill>
                <a:latin typeface="Aptos"/>
              </a:rPr>
              <a:t>03</a:t>
            </a:r>
          </a:p>
        </p:txBody>
      </p:sp>
      <p:sp>
        <p:nvSpPr>
          <p:cNvPr id="28" name="Rectangle 27"/>
          <p:cNvSpPr/>
          <p:nvPr/>
        </p:nvSpPr>
        <p:spPr>
          <a:xfrm>
            <a:off x="5495544" y="4645152"/>
            <a:ext cx="347472" cy="320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95544" y="4745736"/>
            <a:ext cx="1856231" cy="420624"/>
          </a:xfrm>
          <a:prstGeom prst="rect">
            <a:avLst/>
          </a:prstGeom>
          <a:noFill/>
        </p:spPr>
        <p:txBody>
          <a:bodyPr wrap="square" lIns="0" rIns="0" tIns="0" bIns="0" anchor="t">
            <a:spAutoFit/>
          </a:bodyPr>
          <a:lstStyle/>
          <a:p>
            <a:pPr algn="l">
              <a:spcBef>
                <a:spcPts val="0"/>
              </a:spcBef>
              <a:spcAft>
                <a:spcPts val="0"/>
              </a:spcAft>
            </a:pPr>
            <a:r>
              <a:rPr sz="1350" b="1" i="0">
                <a:solidFill>
                  <a:srgbClr val="FFFFFF"/>
                </a:solidFill>
                <a:latin typeface="Aptos"/>
              </a:rPr>
              <a:t>Security and access
challenges remain</a:t>
            </a:r>
          </a:p>
        </p:txBody>
      </p:sp>
      <p:sp>
        <p:nvSpPr>
          <p:cNvPr id="30" name="TextBox 29"/>
          <p:cNvSpPr txBox="1"/>
          <p:nvPr/>
        </p:nvSpPr>
        <p:spPr>
          <a:xfrm>
            <a:off x="685800" y="6245352"/>
            <a:ext cx="6858000" cy="219456"/>
          </a:xfrm>
          <a:prstGeom prst="rect">
            <a:avLst/>
          </a:prstGeom>
          <a:noFill/>
        </p:spPr>
        <p:txBody>
          <a:bodyPr wrap="square" lIns="0" rIns="0" tIns="0" bIns="0" anchor="t">
            <a:spAutoFit/>
          </a:bodyPr>
          <a:lstStyle/>
          <a:p>
            <a:pPr algn="l">
              <a:spcBef>
                <a:spcPts val="0"/>
              </a:spcBef>
              <a:spcAft>
                <a:spcPts val="0"/>
              </a:spcAft>
            </a:pPr>
            <a:r>
              <a:rPr sz="900" b="0" i="0">
                <a:solidFill>
                  <a:srgbClr val="B9CCCD"/>
                </a:solidFill>
                <a:latin typeface="Aptos"/>
              </a:rPr>
              <a:t>MANAGEMENT UPDATE  •  OCTOBER 2026</a:t>
            </a:r>
          </a:p>
        </p:txBody>
      </p:sp>
      <p:sp>
        <p:nvSpPr>
          <p:cNvPr id="31" name="TextBox 30"/>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B9CCCD"/>
                </a:solidFill>
                <a:latin typeface="Aptos"/>
              </a:rPr>
              <a:t>OT/IoT MANAGEMENT  •  LOCAL IT  •  CENTRALOPS  •  CYBERSECURITY</a:t>
            </a:r>
          </a:p>
        </p:txBody>
      </p:sp>
      <p:sp>
        <p:nvSpPr>
          <p:cNvPr id="32" name="TextBox 31"/>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B9CCCD"/>
                </a:solidFill>
                <a:latin typeface="Aptos"/>
              </a:rPr>
              <a:t>01 / 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CECEC"/>
        </a:solidFill>
        <a:effectLst/>
      </p:bgPr>
    </p:bg>
    <p:spTree>
      <p:nvGrpSpPr>
        <p:cNvPr id="1" name=""/>
        <p:cNvGrpSpPr/>
        <p:nvPr/>
      </p:nvGrpSpPr>
      <p:grpSpPr/>
      <p:sp>
        <p:nvSpPr>
          <p:cNvPr id="2" name="TextBox 1"/>
          <p:cNvSpPr txBox="1"/>
          <p:nvPr/>
        </p:nvSpPr>
        <p:spPr>
          <a:xfrm>
            <a:off x="502920" y="310896"/>
            <a:ext cx="11155680" cy="502920"/>
          </a:xfrm>
          <a:prstGeom prst="rect">
            <a:avLst/>
          </a:prstGeom>
          <a:noFill/>
        </p:spPr>
        <p:txBody>
          <a:bodyPr wrap="square" lIns="9144" rIns="9144" tIns="9144" bIns="9144" anchor="t">
            <a:spAutoFit/>
          </a:bodyPr>
          <a:lstStyle/>
          <a:p>
            <a:pPr algn="l">
              <a:spcBef>
                <a:spcPts val="0"/>
              </a:spcBef>
              <a:spcAft>
                <a:spcPts val="0"/>
              </a:spcAft>
            </a:pPr>
            <a:r>
              <a:rPr sz="2700" b="1" i="0">
                <a:solidFill>
                  <a:srgbClr val="054E5A"/>
                </a:solidFill>
                <a:latin typeface="Aptos Display"/>
              </a:rPr>
              <a:t>A Standardized Onboarding Process Is Now in Operation</a:t>
            </a:r>
          </a:p>
        </p:txBody>
      </p:sp>
      <p:sp>
        <p:nvSpPr>
          <p:cNvPr id="3" name="Rectangle 2"/>
          <p:cNvSpPr/>
          <p:nvPr/>
        </p:nvSpPr>
        <p:spPr>
          <a:xfrm>
            <a:off x="521207" y="896112"/>
            <a:ext cx="658368" cy="50292"/>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87552"/>
            <a:ext cx="10972800" cy="310896"/>
          </a:xfrm>
          <a:prstGeom prst="rect">
            <a:avLst/>
          </a:prstGeom>
          <a:noFill/>
        </p:spPr>
        <p:txBody>
          <a:bodyPr wrap="square" lIns="9144" rIns="9144" tIns="9144" bIns="9144" anchor="t">
            <a:spAutoFit/>
          </a:bodyPr>
          <a:lstStyle/>
          <a:p>
            <a:pPr algn="l">
              <a:spcBef>
                <a:spcPts val="0"/>
              </a:spcBef>
              <a:spcAft>
                <a:spcPts val="0"/>
              </a:spcAft>
            </a:pPr>
            <a:r>
              <a:rPr sz="1220" b="0" i="0">
                <a:solidFill>
                  <a:srgbClr val="5C6A6C"/>
                </a:solidFill>
                <a:latin typeface="Aptos"/>
              </a:rPr>
              <a:t>The process has been stable since 03 July 2026, with a clear request-to-completion path.</a:t>
            </a:r>
          </a:p>
        </p:txBody>
      </p:sp>
      <p:sp>
        <p:nvSpPr>
          <p:cNvPr id="5" name="TextBox 4"/>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738083"/>
                </a:solidFill>
                <a:latin typeface="Aptos"/>
              </a:rPr>
              <a:t>OT/IoT MANAGEMENT  •  LOCAL IT  •  CENTRALOPS  •  CYBERSECURITY</a:t>
            </a:r>
          </a:p>
        </p:txBody>
      </p:sp>
      <p:sp>
        <p:nvSpPr>
          <p:cNvPr id="6" name="TextBox 5"/>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738083"/>
                </a:solidFill>
                <a:latin typeface="Aptos"/>
              </a:rPr>
              <a:t>02 / 08</a:t>
            </a:r>
          </a:p>
        </p:txBody>
      </p:sp>
      <p:sp>
        <p:nvSpPr>
          <p:cNvPr id="7" name="Rounded Rectangle 6"/>
          <p:cNvSpPr/>
          <p:nvPr/>
        </p:nvSpPr>
        <p:spPr>
          <a:xfrm>
            <a:off x="548640" y="1426464"/>
            <a:ext cx="3529584" cy="1051560"/>
          </a:xfrm>
          <a:prstGeom prst="roundRect">
            <a:avLst/>
          </a:prstGeom>
          <a:solidFill>
            <a:srgbClr val="E4EF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545336"/>
            <a:ext cx="3127248" cy="484632"/>
          </a:xfrm>
          <a:prstGeom prst="rect">
            <a:avLst/>
          </a:prstGeom>
          <a:noFill/>
        </p:spPr>
        <p:txBody>
          <a:bodyPr wrap="square" lIns="9144" rIns="9144" tIns="9144" bIns="9144" anchor="t">
            <a:spAutoFit/>
          </a:bodyPr>
          <a:lstStyle/>
          <a:p>
            <a:pPr algn="l">
              <a:spcBef>
                <a:spcPts val="0"/>
              </a:spcBef>
              <a:spcAft>
                <a:spcPts val="0"/>
              </a:spcAft>
            </a:pPr>
            <a:r>
              <a:rPr sz="2200" b="1" i="0">
                <a:solidFill>
                  <a:srgbClr val="054E5A"/>
                </a:solidFill>
                <a:latin typeface="Aptos"/>
              </a:rPr>
              <a:t>03 JUL 2026</a:t>
            </a:r>
          </a:p>
        </p:txBody>
      </p:sp>
      <p:sp>
        <p:nvSpPr>
          <p:cNvPr id="9" name="TextBox 8"/>
          <p:cNvSpPr txBox="1"/>
          <p:nvPr/>
        </p:nvSpPr>
        <p:spPr>
          <a:xfrm>
            <a:off x="758952" y="2066543"/>
            <a:ext cx="3090672" cy="228600"/>
          </a:xfrm>
          <a:prstGeom prst="rect">
            <a:avLst/>
          </a:prstGeom>
          <a:noFill/>
        </p:spPr>
        <p:txBody>
          <a:bodyPr wrap="square" lIns="9144" rIns="9144" tIns="9144" bIns="9144" anchor="t">
            <a:spAutoFit/>
          </a:bodyPr>
          <a:lstStyle/>
          <a:p>
            <a:pPr algn="l">
              <a:spcBef>
                <a:spcPts val="0"/>
              </a:spcBef>
              <a:spcAft>
                <a:spcPts val="0"/>
              </a:spcAft>
            </a:pPr>
            <a:r>
              <a:rPr sz="1200" b="0" i="0">
                <a:solidFill>
                  <a:srgbClr val="5C6A6C"/>
                </a:solidFill>
                <a:latin typeface="Aptos"/>
              </a:rPr>
              <a:t>Stable process since</a:t>
            </a:r>
          </a:p>
        </p:txBody>
      </p:sp>
      <p:sp>
        <p:nvSpPr>
          <p:cNvPr id="10" name="Rounded Rectangle 9"/>
          <p:cNvSpPr/>
          <p:nvPr/>
        </p:nvSpPr>
        <p:spPr>
          <a:xfrm>
            <a:off x="4334255" y="1426464"/>
            <a:ext cx="3529584" cy="1051560"/>
          </a:xfrm>
          <a:prstGeom prst="roundRect">
            <a:avLst/>
          </a:prstGeom>
          <a:solidFill>
            <a:srgbClr val="F6E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3" y="1545336"/>
            <a:ext cx="3127248" cy="484632"/>
          </a:xfrm>
          <a:prstGeom prst="rect">
            <a:avLst/>
          </a:prstGeom>
          <a:noFill/>
        </p:spPr>
        <p:txBody>
          <a:bodyPr wrap="square" lIns="9144" rIns="9144" tIns="9144" bIns="9144" anchor="t">
            <a:spAutoFit/>
          </a:bodyPr>
          <a:lstStyle/>
          <a:p>
            <a:pPr algn="l">
              <a:spcBef>
                <a:spcPts val="0"/>
              </a:spcBef>
              <a:spcAft>
                <a:spcPts val="0"/>
              </a:spcAft>
            </a:pPr>
            <a:r>
              <a:rPr sz="3000" b="1" i="0">
                <a:solidFill>
                  <a:srgbClr val="054E5A"/>
                </a:solidFill>
                <a:latin typeface="Aptos"/>
              </a:rPr>
              <a:t>30</a:t>
            </a:r>
          </a:p>
        </p:txBody>
      </p:sp>
      <p:sp>
        <p:nvSpPr>
          <p:cNvPr id="12" name="TextBox 11"/>
          <p:cNvSpPr txBox="1"/>
          <p:nvPr/>
        </p:nvSpPr>
        <p:spPr>
          <a:xfrm>
            <a:off x="4544568" y="2066543"/>
            <a:ext cx="3090672" cy="228600"/>
          </a:xfrm>
          <a:prstGeom prst="rect">
            <a:avLst/>
          </a:prstGeom>
          <a:noFill/>
        </p:spPr>
        <p:txBody>
          <a:bodyPr wrap="square" lIns="9144" rIns="9144" tIns="9144" bIns="9144" anchor="t">
            <a:spAutoFit/>
          </a:bodyPr>
          <a:lstStyle/>
          <a:p>
            <a:pPr algn="l">
              <a:spcBef>
                <a:spcPts val="0"/>
              </a:spcBef>
              <a:spcAft>
                <a:spcPts val="0"/>
              </a:spcAft>
            </a:pPr>
            <a:r>
              <a:rPr sz="1200" b="0" i="0">
                <a:solidFill>
                  <a:srgbClr val="5C6A6C"/>
                </a:solidFill>
                <a:latin typeface="Aptos"/>
              </a:rPr>
              <a:t>Requests processed</a:t>
            </a:r>
          </a:p>
        </p:txBody>
      </p:sp>
      <p:sp>
        <p:nvSpPr>
          <p:cNvPr id="13" name="Rounded Rectangle 12"/>
          <p:cNvSpPr/>
          <p:nvPr/>
        </p:nvSpPr>
        <p:spPr>
          <a:xfrm>
            <a:off x="8119871" y="1426464"/>
            <a:ext cx="3529584" cy="1051560"/>
          </a:xfrm>
          <a:prstGeom prst="roundRect">
            <a:avLst/>
          </a:prstGeom>
          <a:solidFill>
            <a:srgbClr val="ED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545336"/>
            <a:ext cx="3127248" cy="484632"/>
          </a:xfrm>
          <a:prstGeom prst="rect">
            <a:avLst/>
          </a:prstGeom>
          <a:noFill/>
        </p:spPr>
        <p:txBody>
          <a:bodyPr wrap="square" lIns="9144" rIns="9144" tIns="9144" bIns="9144" anchor="t">
            <a:spAutoFit/>
          </a:bodyPr>
          <a:lstStyle/>
          <a:p>
            <a:pPr algn="l">
              <a:spcBef>
                <a:spcPts val="0"/>
              </a:spcBef>
              <a:spcAft>
                <a:spcPts val="0"/>
              </a:spcAft>
            </a:pPr>
            <a:r>
              <a:rPr sz="3000" b="1" i="0">
                <a:solidFill>
                  <a:srgbClr val="054E5A"/>
                </a:solidFill>
                <a:latin typeface="Aptos"/>
              </a:rPr>
              <a:t>92</a:t>
            </a:r>
          </a:p>
        </p:txBody>
      </p:sp>
      <p:sp>
        <p:nvSpPr>
          <p:cNvPr id="15" name="TextBox 14"/>
          <p:cNvSpPr txBox="1"/>
          <p:nvPr/>
        </p:nvSpPr>
        <p:spPr>
          <a:xfrm>
            <a:off x="8330183" y="2066543"/>
            <a:ext cx="3090672" cy="228600"/>
          </a:xfrm>
          <a:prstGeom prst="rect">
            <a:avLst/>
          </a:prstGeom>
          <a:noFill/>
        </p:spPr>
        <p:txBody>
          <a:bodyPr wrap="square" lIns="9144" rIns="9144" tIns="9144" bIns="9144" anchor="t">
            <a:spAutoFit/>
          </a:bodyPr>
          <a:lstStyle/>
          <a:p>
            <a:pPr algn="l">
              <a:spcBef>
                <a:spcPts val="0"/>
              </a:spcBef>
              <a:spcAft>
                <a:spcPts val="0"/>
              </a:spcAft>
            </a:pPr>
            <a:r>
              <a:rPr sz="1200" b="0" i="0">
                <a:solidFill>
                  <a:srgbClr val="5C6A6C"/>
                </a:solidFill>
                <a:latin typeface="Aptos"/>
              </a:rPr>
              <a:t>Devices onboarded</a:t>
            </a:r>
          </a:p>
        </p:txBody>
      </p:sp>
      <p:sp>
        <p:nvSpPr>
          <p:cNvPr id="16" name="TextBox 15"/>
          <p:cNvSpPr txBox="1"/>
          <p:nvPr/>
        </p:nvSpPr>
        <p:spPr>
          <a:xfrm>
            <a:off x="566928" y="2770632"/>
            <a:ext cx="5029200" cy="292608"/>
          </a:xfrm>
          <a:prstGeom prst="rect">
            <a:avLst/>
          </a:prstGeom>
          <a:noFill/>
        </p:spPr>
        <p:txBody>
          <a:bodyPr wrap="square" lIns="9144" rIns="9144" tIns="9144" bIns="9144" anchor="t">
            <a:spAutoFit/>
          </a:bodyPr>
          <a:lstStyle/>
          <a:p>
            <a:pPr algn="l">
              <a:spcBef>
                <a:spcPts val="0"/>
              </a:spcBef>
              <a:spcAft>
                <a:spcPts val="0"/>
              </a:spcAft>
            </a:pPr>
            <a:r>
              <a:rPr sz="1100" b="1" i="0">
                <a:solidFill>
                  <a:srgbClr val="054E5A"/>
                </a:solidFill>
                <a:latin typeface="Aptos"/>
              </a:rPr>
              <a:t>STANDARD REQUEST PATH</a:t>
            </a:r>
          </a:p>
        </p:txBody>
      </p:sp>
      <p:sp>
        <p:nvSpPr>
          <p:cNvPr id="17" name="Rounded Rectangle 16"/>
          <p:cNvSpPr/>
          <p:nvPr/>
        </p:nvSpPr>
        <p:spPr>
          <a:xfrm>
            <a:off x="502920" y="3227832"/>
            <a:ext cx="1627632" cy="1069848"/>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64991"/>
            <a:ext cx="1444752" cy="475488"/>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054E5A"/>
                </a:solidFill>
                <a:latin typeface="Aptos"/>
              </a:rPr>
              <a:t>Jira request</a:t>
            </a:r>
          </a:p>
        </p:txBody>
      </p:sp>
      <p:sp>
        <p:nvSpPr>
          <p:cNvPr id="19" name="TextBox 18"/>
          <p:cNvSpPr txBox="1"/>
          <p:nvPr/>
        </p:nvSpPr>
        <p:spPr>
          <a:xfrm>
            <a:off x="594360" y="3941063"/>
            <a:ext cx="1444752" cy="201168"/>
          </a:xfrm>
          <a:prstGeom prst="rect">
            <a:avLst/>
          </a:prstGeom>
          <a:noFill/>
        </p:spPr>
        <p:txBody>
          <a:bodyPr wrap="square" lIns="9144" rIns="9144" tIns="9144" bIns="9144" anchor="t">
            <a:spAutoFit/>
          </a:bodyPr>
          <a:lstStyle/>
          <a:p>
            <a:pPr algn="ctr">
              <a:spcBef>
                <a:spcPts val="0"/>
              </a:spcBef>
              <a:spcAft>
                <a:spcPts val="0"/>
              </a:spcAft>
            </a:pPr>
            <a:r>
              <a:rPr sz="940" b="0" i="0">
                <a:solidFill>
                  <a:srgbClr val="5C6A6C"/>
                </a:solidFill>
                <a:latin typeface="Aptos"/>
              </a:rPr>
              <a:t>Initiate</a:t>
            </a:r>
          </a:p>
        </p:txBody>
      </p:sp>
      <p:sp>
        <p:nvSpPr>
          <p:cNvPr id="20" name="Right Arrow 19"/>
          <p:cNvSpPr/>
          <p:nvPr/>
        </p:nvSpPr>
        <p:spPr>
          <a:xfrm>
            <a:off x="2162556" y="3648456"/>
            <a:ext cx="256032" cy="210312"/>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59736" y="3227832"/>
            <a:ext cx="1627632" cy="1069848"/>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51176" y="3364991"/>
            <a:ext cx="1444752" cy="475488"/>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054E5A"/>
                </a:solidFill>
                <a:latin typeface="Aptos"/>
              </a:rPr>
              <a:t>Complete
onboarding file</a:t>
            </a:r>
          </a:p>
        </p:txBody>
      </p:sp>
      <p:sp>
        <p:nvSpPr>
          <p:cNvPr id="23" name="TextBox 22"/>
          <p:cNvSpPr txBox="1"/>
          <p:nvPr/>
        </p:nvSpPr>
        <p:spPr>
          <a:xfrm>
            <a:off x="2551176" y="3941063"/>
            <a:ext cx="1444752" cy="201168"/>
          </a:xfrm>
          <a:prstGeom prst="rect">
            <a:avLst/>
          </a:prstGeom>
          <a:noFill/>
        </p:spPr>
        <p:txBody>
          <a:bodyPr wrap="square" lIns="9144" rIns="9144" tIns="9144" bIns="9144" anchor="t">
            <a:spAutoFit/>
          </a:bodyPr>
          <a:lstStyle/>
          <a:p>
            <a:pPr algn="ctr">
              <a:spcBef>
                <a:spcPts val="0"/>
              </a:spcBef>
              <a:spcAft>
                <a:spcPts val="0"/>
              </a:spcAft>
            </a:pPr>
            <a:r>
              <a:rPr sz="940" b="0" i="0">
                <a:solidFill>
                  <a:srgbClr val="5C6A6C"/>
                </a:solidFill>
                <a:latin typeface="Aptos"/>
              </a:rPr>
              <a:t>Provide inputs</a:t>
            </a:r>
          </a:p>
        </p:txBody>
      </p:sp>
      <p:sp>
        <p:nvSpPr>
          <p:cNvPr id="24" name="Right Arrow 23"/>
          <p:cNvSpPr/>
          <p:nvPr/>
        </p:nvSpPr>
        <p:spPr>
          <a:xfrm>
            <a:off x="4119372" y="3648456"/>
            <a:ext cx="256032" cy="210312"/>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416552" y="3227832"/>
            <a:ext cx="1627632" cy="1069848"/>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07992" y="3364991"/>
            <a:ext cx="1444752" cy="475488"/>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054E5A"/>
                </a:solidFill>
                <a:latin typeface="Aptos"/>
              </a:rPr>
              <a:t>Submit</a:t>
            </a:r>
          </a:p>
        </p:txBody>
      </p:sp>
      <p:sp>
        <p:nvSpPr>
          <p:cNvPr id="27" name="TextBox 26"/>
          <p:cNvSpPr txBox="1"/>
          <p:nvPr/>
        </p:nvSpPr>
        <p:spPr>
          <a:xfrm>
            <a:off x="4507992" y="3941063"/>
            <a:ext cx="1444752" cy="201168"/>
          </a:xfrm>
          <a:prstGeom prst="rect">
            <a:avLst/>
          </a:prstGeom>
          <a:noFill/>
        </p:spPr>
        <p:txBody>
          <a:bodyPr wrap="square" lIns="9144" rIns="9144" tIns="9144" bIns="9144" anchor="t">
            <a:spAutoFit/>
          </a:bodyPr>
          <a:lstStyle/>
          <a:p>
            <a:pPr algn="ctr">
              <a:spcBef>
                <a:spcPts val="0"/>
              </a:spcBef>
              <a:spcAft>
                <a:spcPts val="0"/>
              </a:spcAft>
            </a:pPr>
            <a:r>
              <a:rPr sz="940" b="0" i="0">
                <a:solidFill>
                  <a:srgbClr val="5C6A6C"/>
                </a:solidFill>
                <a:latin typeface="Aptos"/>
              </a:rPr>
              <a:t>Send request</a:t>
            </a:r>
          </a:p>
        </p:txBody>
      </p:sp>
      <p:sp>
        <p:nvSpPr>
          <p:cNvPr id="28" name="Right Arrow 27"/>
          <p:cNvSpPr/>
          <p:nvPr/>
        </p:nvSpPr>
        <p:spPr>
          <a:xfrm>
            <a:off x="6076188" y="3648456"/>
            <a:ext cx="256032" cy="210312"/>
          </a:xfrm>
          <a:prstGeom prst="rightArrow">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373368" y="3227832"/>
            <a:ext cx="1627632" cy="1069848"/>
          </a:xfrm>
          <a:prstGeom prst="roundRect">
            <a:avLst/>
          </a:prstGeom>
          <a:solidFill>
            <a:srgbClr val="EDF0E8"/>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64807" y="3364991"/>
            <a:ext cx="1444752" cy="475488"/>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054E5A"/>
                </a:solidFill>
                <a:latin typeface="Aptos"/>
              </a:rPr>
              <a:t>CTIS review</a:t>
            </a:r>
          </a:p>
        </p:txBody>
      </p:sp>
      <p:sp>
        <p:nvSpPr>
          <p:cNvPr id="31" name="TextBox 30"/>
          <p:cNvSpPr txBox="1"/>
          <p:nvPr/>
        </p:nvSpPr>
        <p:spPr>
          <a:xfrm>
            <a:off x="6464807" y="3941063"/>
            <a:ext cx="1444752" cy="201168"/>
          </a:xfrm>
          <a:prstGeom prst="rect">
            <a:avLst/>
          </a:prstGeom>
          <a:noFill/>
        </p:spPr>
        <p:txBody>
          <a:bodyPr wrap="square" lIns="9144" rIns="9144" tIns="9144" bIns="9144" anchor="t">
            <a:spAutoFit/>
          </a:bodyPr>
          <a:lstStyle/>
          <a:p>
            <a:pPr algn="ctr">
              <a:spcBef>
                <a:spcPts val="0"/>
              </a:spcBef>
              <a:spcAft>
                <a:spcPts val="0"/>
              </a:spcAft>
            </a:pPr>
            <a:r>
              <a:rPr sz="940" b="0" i="0">
                <a:solidFill>
                  <a:srgbClr val="5C6A6C"/>
                </a:solidFill>
                <a:latin typeface="Aptos"/>
              </a:rPr>
              <a:t>Review stage</a:t>
            </a:r>
          </a:p>
        </p:txBody>
      </p:sp>
      <p:sp>
        <p:nvSpPr>
          <p:cNvPr id="32" name="Right Arrow 31"/>
          <p:cNvSpPr/>
          <p:nvPr/>
        </p:nvSpPr>
        <p:spPr>
          <a:xfrm>
            <a:off x="8033004" y="3648456"/>
            <a:ext cx="256032" cy="210312"/>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330184" y="3227832"/>
            <a:ext cx="1627632" cy="1069848"/>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21624" y="3364991"/>
            <a:ext cx="1444752" cy="475488"/>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054E5A"/>
                </a:solidFill>
                <a:latin typeface="Aptos"/>
              </a:rPr>
              <a:t>EDO request</a:t>
            </a:r>
          </a:p>
        </p:txBody>
      </p:sp>
      <p:sp>
        <p:nvSpPr>
          <p:cNvPr id="35" name="TextBox 34"/>
          <p:cNvSpPr txBox="1"/>
          <p:nvPr/>
        </p:nvSpPr>
        <p:spPr>
          <a:xfrm>
            <a:off x="8421624" y="3941063"/>
            <a:ext cx="1444752" cy="201168"/>
          </a:xfrm>
          <a:prstGeom prst="rect">
            <a:avLst/>
          </a:prstGeom>
          <a:noFill/>
        </p:spPr>
        <p:txBody>
          <a:bodyPr wrap="square" lIns="9144" rIns="9144" tIns="9144" bIns="9144" anchor="t">
            <a:spAutoFit/>
          </a:bodyPr>
          <a:lstStyle/>
          <a:p>
            <a:pPr algn="ctr">
              <a:spcBef>
                <a:spcPts val="0"/>
              </a:spcBef>
              <a:spcAft>
                <a:spcPts val="0"/>
              </a:spcAft>
            </a:pPr>
            <a:r>
              <a:rPr sz="940" b="0" i="0">
                <a:solidFill>
                  <a:srgbClr val="5C6A6C"/>
                </a:solidFill>
                <a:latin typeface="Aptos"/>
              </a:rPr>
              <a:t>Create / update</a:t>
            </a:r>
          </a:p>
        </p:txBody>
      </p:sp>
      <p:sp>
        <p:nvSpPr>
          <p:cNvPr id="36" name="Right Arrow 35"/>
          <p:cNvSpPr/>
          <p:nvPr/>
        </p:nvSpPr>
        <p:spPr>
          <a:xfrm>
            <a:off x="9989820" y="3648456"/>
            <a:ext cx="256032" cy="210312"/>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10287000" y="3227832"/>
            <a:ext cx="1627632" cy="1069848"/>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78440" y="3364991"/>
            <a:ext cx="1444752" cy="475488"/>
          </a:xfrm>
          <a:prstGeom prst="rect">
            <a:avLst/>
          </a:prstGeom>
          <a:noFill/>
        </p:spPr>
        <p:txBody>
          <a:bodyPr wrap="square" lIns="9144" rIns="9144" tIns="9144" bIns="9144" anchor="ctr">
            <a:spAutoFit/>
          </a:bodyPr>
          <a:lstStyle/>
          <a:p>
            <a:pPr algn="ctr">
              <a:spcBef>
                <a:spcPts val="0"/>
              </a:spcBef>
              <a:spcAft>
                <a:spcPts val="0"/>
              </a:spcAft>
            </a:pPr>
            <a:r>
              <a:rPr sz="1350" b="1" i="0">
                <a:solidFill>
                  <a:srgbClr val="054E5A"/>
                </a:solidFill>
                <a:latin typeface="Aptos"/>
              </a:rPr>
              <a:t>Status updates</a:t>
            </a:r>
          </a:p>
        </p:txBody>
      </p:sp>
      <p:sp>
        <p:nvSpPr>
          <p:cNvPr id="39" name="TextBox 38"/>
          <p:cNvSpPr txBox="1"/>
          <p:nvPr/>
        </p:nvSpPr>
        <p:spPr>
          <a:xfrm>
            <a:off x="10378440" y="3941063"/>
            <a:ext cx="1444752" cy="201168"/>
          </a:xfrm>
          <a:prstGeom prst="rect">
            <a:avLst/>
          </a:prstGeom>
          <a:noFill/>
        </p:spPr>
        <p:txBody>
          <a:bodyPr wrap="square" lIns="9144" rIns="9144" tIns="9144" bIns="9144" anchor="t">
            <a:spAutoFit/>
          </a:bodyPr>
          <a:lstStyle/>
          <a:p>
            <a:pPr algn="ctr">
              <a:spcBef>
                <a:spcPts val="0"/>
              </a:spcBef>
              <a:spcAft>
                <a:spcPts val="0"/>
              </a:spcAft>
            </a:pPr>
            <a:r>
              <a:rPr sz="940" b="0" i="0">
                <a:solidFill>
                  <a:srgbClr val="5C6A6C"/>
                </a:solidFill>
                <a:latin typeface="Aptos"/>
              </a:rPr>
              <a:t>Track to close</a:t>
            </a:r>
          </a:p>
        </p:txBody>
      </p:sp>
      <p:sp>
        <p:nvSpPr>
          <p:cNvPr id="40" name="Rounded Rectangle 39"/>
          <p:cNvSpPr/>
          <p:nvPr/>
        </p:nvSpPr>
        <p:spPr>
          <a:xfrm>
            <a:off x="548640" y="4736592"/>
            <a:ext cx="11100816" cy="914400"/>
          </a:xfrm>
          <a:prstGeom prst="round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86384" y="4974336"/>
            <a:ext cx="384048" cy="384048"/>
          </a:xfrm>
          <a:prstGeom prst="ellipse">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6384" y="4974336"/>
            <a:ext cx="384048" cy="384048"/>
          </a:xfrm>
          <a:prstGeom prst="rect">
            <a:avLst/>
          </a:prstGeom>
          <a:noFill/>
        </p:spPr>
        <p:txBody>
          <a:bodyPr wrap="square" lIns="0" rIns="0" tIns="0" bIns="0" anchor="ctr">
            <a:spAutoFit/>
          </a:bodyPr>
          <a:lstStyle/>
          <a:p>
            <a:pPr algn="ctr">
              <a:spcBef>
                <a:spcPts val="0"/>
              </a:spcBef>
              <a:spcAft>
                <a:spcPts val="0"/>
              </a:spcAft>
            </a:pPr>
            <a:r>
              <a:rPr sz="1700" b="1" i="0">
                <a:solidFill>
                  <a:srgbClr val="054E5A"/>
                </a:solidFill>
                <a:latin typeface="Aptos"/>
              </a:rPr>
              <a:t>!</a:t>
            </a:r>
          </a:p>
        </p:txBody>
      </p:sp>
      <p:sp>
        <p:nvSpPr>
          <p:cNvPr id="43" name="TextBox 42"/>
          <p:cNvSpPr txBox="1"/>
          <p:nvPr/>
        </p:nvSpPr>
        <p:spPr>
          <a:xfrm>
            <a:off x="1353312" y="4901184"/>
            <a:ext cx="9966960" cy="521207"/>
          </a:xfrm>
          <a:prstGeom prst="rect">
            <a:avLst/>
          </a:prstGeom>
          <a:noFill/>
        </p:spPr>
        <p:txBody>
          <a:bodyPr wrap="square" lIns="9144" rIns="9144" tIns="9144" bIns="9144" anchor="ctr">
            <a:spAutoFit/>
          </a:bodyPr>
          <a:lstStyle/>
          <a:p>
            <a:pPr algn="l">
              <a:spcBef>
                <a:spcPts val="0"/>
              </a:spcBef>
              <a:spcAft>
                <a:spcPts val="0"/>
              </a:spcAft>
            </a:pPr>
            <a:r>
              <a:rPr sz="1500" b="1" i="0">
                <a:solidFill>
                  <a:srgbClr val="FFFFFF"/>
                </a:solidFill>
                <a:latin typeface="Aptos"/>
              </a:rPr>
              <a:t>Firewall policy requests should be submitted at least one week in advance for internal alignment before escalation to CentralOps.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CECEC"/>
        </a:solidFill>
        <a:effectLst/>
      </p:bgPr>
    </p:bg>
    <p:spTree>
      <p:nvGrpSpPr>
        <p:cNvPr id="1" name=""/>
        <p:cNvGrpSpPr/>
        <p:nvPr/>
      </p:nvGrpSpPr>
      <p:grpSpPr/>
      <p:sp>
        <p:nvSpPr>
          <p:cNvPr id="2" name="TextBox 1"/>
          <p:cNvSpPr txBox="1"/>
          <p:nvPr/>
        </p:nvSpPr>
        <p:spPr>
          <a:xfrm>
            <a:off x="502920" y="310896"/>
            <a:ext cx="11155680" cy="502920"/>
          </a:xfrm>
          <a:prstGeom prst="rect">
            <a:avLst/>
          </a:prstGeom>
          <a:noFill/>
        </p:spPr>
        <p:txBody>
          <a:bodyPr wrap="square" lIns="9144" rIns="9144" tIns="9144" bIns="9144" anchor="t">
            <a:spAutoFit/>
          </a:bodyPr>
          <a:lstStyle/>
          <a:p>
            <a:pPr algn="l">
              <a:spcBef>
                <a:spcPts val="0"/>
              </a:spcBef>
              <a:spcAft>
                <a:spcPts val="0"/>
              </a:spcAft>
            </a:pPr>
            <a:r>
              <a:rPr sz="2700" b="1" i="0">
                <a:solidFill>
                  <a:srgbClr val="054E5A"/>
                </a:solidFill>
                <a:latin typeface="Aptos Display"/>
              </a:rPr>
              <a:t>Better Input Quality Supports Faster, Safer Onboarding</a:t>
            </a:r>
          </a:p>
        </p:txBody>
      </p:sp>
      <p:sp>
        <p:nvSpPr>
          <p:cNvPr id="3" name="Rectangle 2"/>
          <p:cNvSpPr/>
          <p:nvPr/>
        </p:nvSpPr>
        <p:spPr>
          <a:xfrm>
            <a:off x="521207" y="896112"/>
            <a:ext cx="658368" cy="50292"/>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87552"/>
            <a:ext cx="10972800" cy="310896"/>
          </a:xfrm>
          <a:prstGeom prst="rect">
            <a:avLst/>
          </a:prstGeom>
          <a:noFill/>
        </p:spPr>
        <p:txBody>
          <a:bodyPr wrap="square" lIns="9144" rIns="9144" tIns="9144" bIns="9144" anchor="t">
            <a:spAutoFit/>
          </a:bodyPr>
          <a:lstStyle/>
          <a:p>
            <a:pPr algn="l">
              <a:spcBef>
                <a:spcPts val="0"/>
              </a:spcBef>
              <a:spcAft>
                <a:spcPts val="0"/>
              </a:spcAft>
            </a:pPr>
            <a:r>
              <a:rPr sz="1220" b="0" i="0">
                <a:solidFill>
                  <a:srgbClr val="5C6A6C"/>
                </a:solidFill>
                <a:latin typeface="Aptos"/>
              </a:rPr>
              <a:t>Use the checklist to prepare a complete request; confirm exact field labels against the latest onboarding file.</a:t>
            </a:r>
          </a:p>
        </p:txBody>
      </p:sp>
      <p:sp>
        <p:nvSpPr>
          <p:cNvPr id="5" name="TextBox 4"/>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738083"/>
                </a:solidFill>
                <a:latin typeface="Aptos"/>
              </a:rPr>
              <a:t>OT/IoT MANAGEMENT  •  LOCAL IT  •  CENTRALOPS  •  CYBERSECURITY</a:t>
            </a:r>
          </a:p>
        </p:txBody>
      </p:sp>
      <p:sp>
        <p:nvSpPr>
          <p:cNvPr id="6" name="TextBox 5"/>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738083"/>
                </a:solidFill>
                <a:latin typeface="Aptos"/>
              </a:rPr>
              <a:t>03 / 08</a:t>
            </a:r>
          </a:p>
        </p:txBody>
      </p:sp>
      <p:sp>
        <p:nvSpPr>
          <p:cNvPr id="7" name="Rounded Rectangle 6"/>
          <p:cNvSpPr/>
          <p:nvPr/>
        </p:nvSpPr>
        <p:spPr>
          <a:xfrm>
            <a:off x="548640" y="1481328"/>
            <a:ext cx="5404104" cy="1847088"/>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49808" y="1664208"/>
            <a:ext cx="393192" cy="393192"/>
          </a:xfrm>
          <a:prstGeom prst="ellipse">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668780"/>
            <a:ext cx="393192" cy="374904"/>
          </a:xfrm>
          <a:prstGeom prst="rect">
            <a:avLst/>
          </a:prstGeom>
          <a:noFill/>
        </p:spPr>
        <p:txBody>
          <a:bodyPr wrap="square" lIns="0" rIns="0" tIns="0" bIns="0" anchor="ctr">
            <a:spAutoFit/>
          </a:bodyPr>
          <a:lstStyle/>
          <a:p>
            <a:pPr algn="ctr">
              <a:spcBef>
                <a:spcPts val="0"/>
              </a:spcBef>
              <a:spcAft>
                <a:spcPts val="0"/>
              </a:spcAft>
            </a:pPr>
            <a:r>
              <a:rPr sz="1200" b="1" i="0">
                <a:solidFill>
                  <a:srgbClr val="054E5A"/>
                </a:solidFill>
                <a:latin typeface="Aptos"/>
              </a:rPr>
              <a:t>01</a:t>
            </a:r>
          </a:p>
        </p:txBody>
      </p:sp>
      <p:sp>
        <p:nvSpPr>
          <p:cNvPr id="10" name="TextBox 9"/>
          <p:cNvSpPr txBox="1"/>
          <p:nvPr/>
        </p:nvSpPr>
        <p:spPr>
          <a:xfrm>
            <a:off x="1252728" y="1673352"/>
            <a:ext cx="4407408" cy="347472"/>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Device identity</a:t>
            </a:r>
          </a:p>
        </p:txBody>
      </p:sp>
      <p:sp>
        <p:nvSpPr>
          <p:cNvPr id="11" name="TextBox 10"/>
          <p:cNvSpPr txBox="1"/>
          <p:nvPr/>
        </p:nvSpPr>
        <p:spPr>
          <a:xfrm>
            <a:off x="822959" y="2185416"/>
            <a:ext cx="4800600" cy="1024128"/>
          </a:xfrm>
          <a:prstGeom prst="rect">
            <a:avLst/>
          </a:prstGeom>
          <a:noFill/>
        </p:spPr>
        <p:txBody>
          <a:bodyPr wrap="square" lIns="9144" rIns="9144" tIns="9144" bIns="9144" anchor="t">
            <a:spAutoFit/>
          </a:bodyPr>
          <a:lstStyle/>
          <a:p>
            <a:pPr>
              <a:spcBef>
                <a:spcPts val="0"/>
              </a:spcBef>
              <a:spcAft>
                <a:spcPts val="400"/>
              </a:spcAft>
            </a:pPr>
            <a:r>
              <a:rPr sz="1300">
                <a:solidFill>
                  <a:srgbClr val="000000"/>
                </a:solidFill>
                <a:latin typeface="Aptos"/>
              </a:rPr>
              <a:t>–  Division and site</a:t>
            </a:r>
          </a:p>
          <a:p>
            <a:pPr>
              <a:spcBef>
                <a:spcPts val="0"/>
              </a:spcBef>
              <a:spcAft>
                <a:spcPts val="400"/>
              </a:spcAft>
            </a:pPr>
            <a:r>
              <a:rPr sz="1300">
                <a:solidFill>
                  <a:srgbClr val="000000"/>
                </a:solidFill>
                <a:latin typeface="Aptos"/>
              </a:rPr>
              <a:t>–  Device owner</a:t>
            </a:r>
          </a:p>
          <a:p>
            <a:pPr>
              <a:spcBef>
                <a:spcPts val="0"/>
              </a:spcBef>
              <a:spcAft>
                <a:spcPts val="400"/>
              </a:spcAft>
            </a:pPr>
            <a:r>
              <a:rPr sz="1300">
                <a:solidFill>
                  <a:srgbClr val="000000"/>
                </a:solidFill>
                <a:latin typeface="Aptos"/>
              </a:rPr>
              <a:t>–  Serial number</a:t>
            </a:r>
          </a:p>
          <a:p>
            <a:pPr>
              <a:spcBef>
                <a:spcPts val="0"/>
              </a:spcBef>
              <a:spcAft>
                <a:spcPts val="400"/>
              </a:spcAft>
            </a:pPr>
            <a:r>
              <a:rPr sz="1300">
                <a:solidFill>
                  <a:srgbClr val="000000"/>
                </a:solidFill>
                <a:latin typeface="Aptos"/>
              </a:rPr>
              <a:t>–  MAC address or hostname</a:t>
            </a:r>
          </a:p>
        </p:txBody>
      </p:sp>
      <p:sp>
        <p:nvSpPr>
          <p:cNvPr id="12" name="Rounded Rectangle 11"/>
          <p:cNvSpPr/>
          <p:nvPr/>
        </p:nvSpPr>
        <p:spPr>
          <a:xfrm>
            <a:off x="6236208" y="1481328"/>
            <a:ext cx="5404104" cy="1847088"/>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1664208"/>
            <a:ext cx="393192" cy="393192"/>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1668780"/>
            <a:ext cx="393192" cy="374904"/>
          </a:xfrm>
          <a:prstGeom prst="rect">
            <a:avLst/>
          </a:prstGeom>
          <a:noFill/>
        </p:spPr>
        <p:txBody>
          <a:bodyPr wrap="square" lIns="0" rIns="0" tIns="0" bIns="0" anchor="ctr">
            <a:spAutoFit/>
          </a:bodyPr>
          <a:lstStyle/>
          <a:p>
            <a:pPr algn="ctr">
              <a:spcBef>
                <a:spcPts val="0"/>
              </a:spcBef>
              <a:spcAft>
                <a:spcPts val="0"/>
              </a:spcAft>
            </a:pPr>
            <a:r>
              <a:rPr sz="1200" b="1" i="0">
                <a:solidFill>
                  <a:srgbClr val="054E5A"/>
                </a:solidFill>
                <a:latin typeface="Aptos"/>
              </a:rPr>
              <a:t>02</a:t>
            </a:r>
          </a:p>
        </p:txBody>
      </p:sp>
      <p:sp>
        <p:nvSpPr>
          <p:cNvPr id="15" name="TextBox 14"/>
          <p:cNvSpPr txBox="1"/>
          <p:nvPr/>
        </p:nvSpPr>
        <p:spPr>
          <a:xfrm>
            <a:off x="6940296" y="1673352"/>
            <a:ext cx="4407408" cy="347472"/>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Network profile</a:t>
            </a:r>
          </a:p>
        </p:txBody>
      </p:sp>
      <p:sp>
        <p:nvSpPr>
          <p:cNvPr id="16" name="TextBox 15"/>
          <p:cNvSpPr txBox="1"/>
          <p:nvPr/>
        </p:nvSpPr>
        <p:spPr>
          <a:xfrm>
            <a:off x="6510528" y="2185416"/>
            <a:ext cx="4800600" cy="1024128"/>
          </a:xfrm>
          <a:prstGeom prst="rect">
            <a:avLst/>
          </a:prstGeom>
          <a:noFill/>
        </p:spPr>
        <p:txBody>
          <a:bodyPr wrap="square" lIns="9144" rIns="9144" tIns="9144" bIns="9144" anchor="t">
            <a:spAutoFit/>
          </a:bodyPr>
          <a:lstStyle/>
          <a:p>
            <a:pPr>
              <a:spcBef>
                <a:spcPts val="0"/>
              </a:spcBef>
              <a:spcAft>
                <a:spcPts val="400"/>
              </a:spcAft>
            </a:pPr>
            <a:r>
              <a:rPr sz="1300">
                <a:solidFill>
                  <a:srgbClr val="000000"/>
                </a:solidFill>
                <a:latin typeface="Aptos"/>
              </a:rPr>
              <a:t>–  Device type or SGT</a:t>
            </a:r>
          </a:p>
          <a:p>
            <a:pPr>
              <a:spcBef>
                <a:spcPts val="0"/>
              </a:spcBef>
              <a:spcAft>
                <a:spcPts val="400"/>
              </a:spcAft>
            </a:pPr>
            <a:r>
              <a:rPr sz="1300">
                <a:solidFill>
                  <a:srgbClr val="000000"/>
                </a:solidFill>
                <a:latin typeface="Aptos"/>
              </a:rPr>
              <a:t>–  Wired or wireless</a:t>
            </a:r>
          </a:p>
          <a:p>
            <a:pPr>
              <a:spcBef>
                <a:spcPts val="0"/>
              </a:spcBef>
              <a:spcAft>
                <a:spcPts val="400"/>
              </a:spcAft>
            </a:pPr>
            <a:r>
              <a:rPr sz="1300">
                <a:solidFill>
                  <a:srgbClr val="000000"/>
                </a:solidFill>
                <a:latin typeface="Aptos"/>
              </a:rPr>
              <a:t>–  Fixed IP requirement</a:t>
            </a:r>
          </a:p>
        </p:txBody>
      </p:sp>
      <p:sp>
        <p:nvSpPr>
          <p:cNvPr id="17" name="Rounded Rectangle 16"/>
          <p:cNvSpPr/>
          <p:nvPr/>
        </p:nvSpPr>
        <p:spPr>
          <a:xfrm>
            <a:off x="548640" y="3621024"/>
            <a:ext cx="5404104" cy="1847088"/>
          </a:xfrm>
          <a:prstGeom prst="roundRect">
            <a:avLst/>
          </a:prstGeom>
          <a:solidFill>
            <a:srgbClr val="EDF0E8"/>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49808" y="3803904"/>
            <a:ext cx="393192" cy="393192"/>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808476"/>
            <a:ext cx="393192" cy="374904"/>
          </a:xfrm>
          <a:prstGeom prst="rect">
            <a:avLst/>
          </a:prstGeom>
          <a:noFill/>
        </p:spPr>
        <p:txBody>
          <a:bodyPr wrap="square" lIns="0" rIns="0" tIns="0" bIns="0" anchor="ctr">
            <a:spAutoFit/>
          </a:bodyPr>
          <a:lstStyle/>
          <a:p>
            <a:pPr algn="ctr">
              <a:spcBef>
                <a:spcPts val="0"/>
              </a:spcBef>
              <a:spcAft>
                <a:spcPts val="0"/>
              </a:spcAft>
            </a:pPr>
            <a:r>
              <a:rPr sz="1200" b="1" i="0">
                <a:solidFill>
                  <a:srgbClr val="054E5A"/>
                </a:solidFill>
                <a:latin typeface="Aptos"/>
              </a:rPr>
              <a:t>03</a:t>
            </a:r>
          </a:p>
        </p:txBody>
      </p:sp>
      <p:sp>
        <p:nvSpPr>
          <p:cNvPr id="20" name="TextBox 19"/>
          <p:cNvSpPr txBox="1"/>
          <p:nvPr/>
        </p:nvSpPr>
        <p:spPr>
          <a:xfrm>
            <a:off x="1252728" y="3813048"/>
            <a:ext cx="4407408" cy="347472"/>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Communication needs</a:t>
            </a:r>
          </a:p>
        </p:txBody>
      </p:sp>
      <p:sp>
        <p:nvSpPr>
          <p:cNvPr id="21" name="TextBox 20"/>
          <p:cNvSpPr txBox="1"/>
          <p:nvPr/>
        </p:nvSpPr>
        <p:spPr>
          <a:xfrm>
            <a:off x="822959" y="4325112"/>
            <a:ext cx="4800600" cy="1024128"/>
          </a:xfrm>
          <a:prstGeom prst="rect">
            <a:avLst/>
          </a:prstGeom>
          <a:noFill/>
        </p:spPr>
        <p:txBody>
          <a:bodyPr wrap="square" lIns="9144" rIns="9144" tIns="9144" bIns="9144" anchor="t">
            <a:spAutoFit/>
          </a:bodyPr>
          <a:lstStyle/>
          <a:p>
            <a:pPr>
              <a:spcBef>
                <a:spcPts val="0"/>
              </a:spcBef>
              <a:spcAft>
                <a:spcPts val="400"/>
              </a:spcAft>
            </a:pPr>
            <a:r>
              <a:rPr sz="1300">
                <a:solidFill>
                  <a:srgbClr val="000000"/>
                </a:solidFill>
                <a:latin typeface="Aptos"/>
              </a:rPr>
              <a:t>–  Connected systems</a:t>
            </a:r>
          </a:p>
          <a:p>
            <a:pPr>
              <a:spcBef>
                <a:spcPts val="0"/>
              </a:spcBef>
              <a:spcAft>
                <a:spcPts val="400"/>
              </a:spcAft>
            </a:pPr>
            <a:r>
              <a:rPr sz="1300">
                <a:solidFill>
                  <a:srgbClr val="000000"/>
                </a:solidFill>
                <a:latin typeface="Aptos"/>
              </a:rPr>
              <a:t>–  Protocols and ports</a:t>
            </a:r>
          </a:p>
          <a:p>
            <a:pPr>
              <a:spcBef>
                <a:spcPts val="0"/>
              </a:spcBef>
              <a:spcAft>
                <a:spcPts val="400"/>
              </a:spcAft>
            </a:pPr>
            <a:r>
              <a:rPr sz="1300">
                <a:solidFill>
                  <a:srgbClr val="000000"/>
                </a:solidFill>
                <a:latin typeface="Aptos"/>
              </a:rPr>
              <a:t>–  Remote support or monitoring</a:t>
            </a:r>
          </a:p>
        </p:txBody>
      </p:sp>
      <p:sp>
        <p:nvSpPr>
          <p:cNvPr id="22" name="Rounded Rectangle 21"/>
          <p:cNvSpPr/>
          <p:nvPr/>
        </p:nvSpPr>
        <p:spPr>
          <a:xfrm>
            <a:off x="6236208" y="3621024"/>
            <a:ext cx="5404104" cy="1847088"/>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03904"/>
            <a:ext cx="393192" cy="393192"/>
          </a:xfrm>
          <a:prstGeom prst="ellipse">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08476"/>
            <a:ext cx="393192" cy="374904"/>
          </a:xfrm>
          <a:prstGeom prst="rect">
            <a:avLst/>
          </a:prstGeom>
          <a:noFill/>
        </p:spPr>
        <p:txBody>
          <a:bodyPr wrap="square" lIns="0" rIns="0" tIns="0" bIns="0" anchor="ctr">
            <a:spAutoFit/>
          </a:bodyPr>
          <a:lstStyle/>
          <a:p>
            <a:pPr algn="ctr">
              <a:spcBef>
                <a:spcPts val="0"/>
              </a:spcBef>
              <a:spcAft>
                <a:spcPts val="0"/>
              </a:spcAft>
            </a:pPr>
            <a:r>
              <a:rPr sz="1200" b="1" i="0">
                <a:solidFill>
                  <a:srgbClr val="054E5A"/>
                </a:solidFill>
                <a:latin typeface="Aptos"/>
              </a:rPr>
              <a:t>04</a:t>
            </a:r>
          </a:p>
        </p:txBody>
      </p:sp>
      <p:sp>
        <p:nvSpPr>
          <p:cNvPr id="25" name="TextBox 24"/>
          <p:cNvSpPr txBox="1"/>
          <p:nvPr/>
        </p:nvSpPr>
        <p:spPr>
          <a:xfrm>
            <a:off x="6940296" y="3813048"/>
            <a:ext cx="4407408" cy="347472"/>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Firewall request</a:t>
            </a:r>
          </a:p>
        </p:txBody>
      </p:sp>
      <p:sp>
        <p:nvSpPr>
          <p:cNvPr id="26" name="TextBox 25"/>
          <p:cNvSpPr txBox="1"/>
          <p:nvPr/>
        </p:nvSpPr>
        <p:spPr>
          <a:xfrm>
            <a:off x="6510528" y="4325112"/>
            <a:ext cx="4800600" cy="1024128"/>
          </a:xfrm>
          <a:prstGeom prst="rect">
            <a:avLst/>
          </a:prstGeom>
          <a:noFill/>
        </p:spPr>
        <p:txBody>
          <a:bodyPr wrap="square" lIns="9144" rIns="9144" tIns="9144" bIns="9144" anchor="t">
            <a:spAutoFit/>
          </a:bodyPr>
          <a:lstStyle/>
          <a:p>
            <a:pPr>
              <a:spcBef>
                <a:spcPts val="0"/>
              </a:spcBef>
              <a:spcAft>
                <a:spcPts val="400"/>
              </a:spcAft>
            </a:pPr>
            <a:r>
              <a:rPr sz="1300">
                <a:solidFill>
                  <a:srgbClr val="000000"/>
                </a:solidFill>
                <a:latin typeface="Aptos"/>
              </a:rPr>
              <a:t>–  Source IP and destination IP</a:t>
            </a:r>
          </a:p>
          <a:p>
            <a:pPr>
              <a:spcBef>
                <a:spcPts val="0"/>
              </a:spcBef>
              <a:spcAft>
                <a:spcPts val="400"/>
              </a:spcAft>
            </a:pPr>
            <a:r>
              <a:rPr sz="1300">
                <a:solidFill>
                  <a:srgbClr val="000000"/>
                </a:solidFill>
                <a:latin typeface="Aptos"/>
              </a:rPr>
              <a:t>–  TCP or UDP and port</a:t>
            </a:r>
          </a:p>
          <a:p>
            <a:pPr>
              <a:spcBef>
                <a:spcPts val="0"/>
              </a:spcBef>
              <a:spcAft>
                <a:spcPts val="400"/>
              </a:spcAft>
            </a:pPr>
            <a:r>
              <a:rPr sz="1300">
                <a:solidFill>
                  <a:srgbClr val="000000"/>
                </a:solidFill>
                <a:latin typeface="Aptos"/>
              </a:rPr>
              <a:t>–  Purpose and service name</a:t>
            </a:r>
          </a:p>
        </p:txBody>
      </p:sp>
      <p:sp>
        <p:nvSpPr>
          <p:cNvPr id="27" name="TextBox 26"/>
          <p:cNvSpPr txBox="1"/>
          <p:nvPr/>
        </p:nvSpPr>
        <p:spPr>
          <a:xfrm>
            <a:off x="585216" y="5824728"/>
            <a:ext cx="10972800" cy="320040"/>
          </a:xfrm>
          <a:prstGeom prst="rect">
            <a:avLst/>
          </a:prstGeom>
          <a:noFill/>
        </p:spPr>
        <p:txBody>
          <a:bodyPr wrap="square" lIns="9144" rIns="9144" tIns="9144" bIns="9144" anchor="t">
            <a:spAutoFit/>
          </a:bodyPr>
          <a:lstStyle/>
          <a:p>
            <a:pPr algn="l">
              <a:spcBef>
                <a:spcPts val="0"/>
              </a:spcBef>
              <a:spcAft>
                <a:spcPts val="0"/>
              </a:spcAft>
            </a:pPr>
            <a:r>
              <a:rPr sz="1220" b="0" i="1">
                <a:solidFill>
                  <a:srgbClr val="5C6A6C"/>
                </a:solidFill>
                <a:latin typeface="Aptos"/>
              </a:rPr>
              <a:t>A complete network and communication profile helps teams assess access needs before implementation.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CECEC"/>
        </a:solidFill>
        <a:effectLst/>
      </p:bgPr>
    </p:bg>
    <p:spTree>
      <p:nvGrpSpPr>
        <p:cNvPr id="1" name=""/>
        <p:cNvGrpSpPr/>
        <p:nvPr/>
      </p:nvGrpSpPr>
      <p:grpSpPr/>
      <p:sp>
        <p:nvSpPr>
          <p:cNvPr id="2" name="TextBox 1"/>
          <p:cNvSpPr txBox="1"/>
          <p:nvPr/>
        </p:nvSpPr>
        <p:spPr>
          <a:xfrm>
            <a:off x="502920" y="310896"/>
            <a:ext cx="11155680" cy="502920"/>
          </a:xfrm>
          <a:prstGeom prst="rect">
            <a:avLst/>
          </a:prstGeom>
          <a:noFill/>
        </p:spPr>
        <p:txBody>
          <a:bodyPr wrap="square" lIns="9144" rIns="9144" tIns="9144" bIns="9144" anchor="t">
            <a:spAutoFit/>
          </a:bodyPr>
          <a:lstStyle/>
          <a:p>
            <a:pPr algn="l">
              <a:spcBef>
                <a:spcPts val="0"/>
              </a:spcBef>
              <a:spcAft>
                <a:spcPts val="0"/>
              </a:spcAft>
            </a:pPr>
            <a:r>
              <a:rPr sz="2700" b="1" i="0">
                <a:solidFill>
                  <a:srgbClr val="054E5A"/>
                </a:solidFill>
                <a:latin typeface="Aptos Display"/>
              </a:rPr>
              <a:t>Two Source Systems Feed a Centralized Reporting Model</a:t>
            </a:r>
          </a:p>
        </p:txBody>
      </p:sp>
      <p:sp>
        <p:nvSpPr>
          <p:cNvPr id="3" name="Rectangle 2"/>
          <p:cNvSpPr/>
          <p:nvPr/>
        </p:nvSpPr>
        <p:spPr>
          <a:xfrm>
            <a:off x="521207" y="896112"/>
            <a:ext cx="658368" cy="50292"/>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87552"/>
            <a:ext cx="10972800" cy="310896"/>
          </a:xfrm>
          <a:prstGeom prst="rect">
            <a:avLst/>
          </a:prstGeom>
          <a:noFill/>
        </p:spPr>
        <p:txBody>
          <a:bodyPr wrap="square" lIns="9144" rIns="9144" tIns="9144" bIns="9144" anchor="t">
            <a:spAutoFit/>
          </a:bodyPr>
          <a:lstStyle/>
          <a:p>
            <a:pPr algn="l">
              <a:spcBef>
                <a:spcPts val="0"/>
              </a:spcBef>
              <a:spcAft>
                <a:spcPts val="0"/>
              </a:spcAft>
            </a:pPr>
            <a:r>
              <a:rPr sz="1220" b="0" i="0">
                <a:solidFill>
                  <a:srgbClr val="5C6A6C"/>
                </a:solidFill>
                <a:latin typeface="Aptos"/>
              </a:rPr>
              <a:t>The model combines system extracts with manually maintained reference data.</a:t>
            </a:r>
          </a:p>
        </p:txBody>
      </p:sp>
      <p:sp>
        <p:nvSpPr>
          <p:cNvPr id="5" name="TextBox 4"/>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738083"/>
                </a:solidFill>
                <a:latin typeface="Aptos"/>
              </a:rPr>
              <a:t>OT/IoT MANAGEMENT  •  LOCAL IT  •  CENTRALOPS  •  CYBERSECURITY</a:t>
            </a:r>
          </a:p>
        </p:txBody>
      </p:sp>
      <p:sp>
        <p:nvSpPr>
          <p:cNvPr id="6" name="TextBox 5"/>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738083"/>
                </a:solidFill>
                <a:latin typeface="Aptos"/>
              </a:rPr>
              <a:t>04 / 08</a:t>
            </a:r>
          </a:p>
        </p:txBody>
      </p:sp>
      <p:sp>
        <p:nvSpPr>
          <p:cNvPr id="7" name="Rounded Rectangle 6"/>
          <p:cNvSpPr/>
          <p:nvPr/>
        </p:nvSpPr>
        <p:spPr>
          <a:xfrm>
            <a:off x="512064" y="1600200"/>
            <a:ext cx="2404872" cy="1188720"/>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12064" y="1600200"/>
            <a:ext cx="64008" cy="1188720"/>
          </a:xfrm>
          <a:prstGeom prst="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 y="1728216"/>
            <a:ext cx="2130552" cy="292608"/>
          </a:xfrm>
          <a:prstGeom prst="rect">
            <a:avLst/>
          </a:prstGeom>
          <a:noFill/>
        </p:spPr>
        <p:txBody>
          <a:bodyPr wrap="square" lIns="9144" rIns="9144" tIns="9144" bIns="9144" anchor="t">
            <a:spAutoFit/>
          </a:bodyPr>
          <a:lstStyle/>
          <a:p>
            <a:pPr algn="l">
              <a:spcBef>
                <a:spcPts val="0"/>
              </a:spcBef>
              <a:spcAft>
                <a:spcPts val="0"/>
              </a:spcAft>
            </a:pPr>
            <a:r>
              <a:rPr sz="1800" b="1" i="0">
                <a:solidFill>
                  <a:srgbClr val="054E5A"/>
                </a:solidFill>
                <a:latin typeface="Aptos"/>
              </a:rPr>
              <a:t>EDO</a:t>
            </a:r>
          </a:p>
        </p:txBody>
      </p:sp>
      <p:sp>
        <p:nvSpPr>
          <p:cNvPr id="10" name="TextBox 9"/>
          <p:cNvSpPr txBox="1"/>
          <p:nvPr/>
        </p:nvSpPr>
        <p:spPr>
          <a:xfrm>
            <a:off x="676656" y="2084832"/>
            <a:ext cx="2112264" cy="640080"/>
          </a:xfrm>
          <a:prstGeom prst="rect">
            <a:avLst/>
          </a:prstGeom>
          <a:noFill/>
        </p:spPr>
        <p:txBody>
          <a:bodyPr wrap="square" lIns="9144" rIns="9144" tIns="9144" bIns="9144" anchor="t">
            <a:spAutoFit/>
          </a:bodyPr>
          <a:lstStyle/>
          <a:p>
            <a:pPr algn="l">
              <a:spcBef>
                <a:spcPts val="0"/>
              </a:spcBef>
              <a:spcAft>
                <a:spcPts val="0"/>
              </a:spcAft>
            </a:pPr>
            <a:r>
              <a:rPr sz="1050" b="0" i="0">
                <a:solidFill>
                  <a:srgbClr val="5C6A6C"/>
                </a:solidFill>
                <a:latin typeface="Aptos"/>
              </a:rPr>
              <a:t>Ownership, business and device-management attributes</a:t>
            </a:r>
          </a:p>
        </p:txBody>
      </p:sp>
      <p:sp>
        <p:nvSpPr>
          <p:cNvPr id="11" name="Rounded Rectangle 10"/>
          <p:cNvSpPr/>
          <p:nvPr/>
        </p:nvSpPr>
        <p:spPr>
          <a:xfrm>
            <a:off x="512064" y="3291840"/>
            <a:ext cx="2404872" cy="1307592"/>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12064" y="3291840"/>
            <a:ext cx="64008" cy="1307592"/>
          </a:xfrm>
          <a:prstGeom prst="rect">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419856"/>
            <a:ext cx="2130552" cy="292608"/>
          </a:xfrm>
          <a:prstGeom prst="rect">
            <a:avLst/>
          </a:prstGeom>
          <a:noFill/>
        </p:spPr>
        <p:txBody>
          <a:bodyPr wrap="square" lIns="9144" rIns="9144" tIns="9144" bIns="9144" anchor="t">
            <a:spAutoFit/>
          </a:bodyPr>
          <a:lstStyle/>
          <a:p>
            <a:pPr algn="l">
              <a:spcBef>
                <a:spcPts val="0"/>
              </a:spcBef>
              <a:spcAft>
                <a:spcPts val="0"/>
              </a:spcAft>
            </a:pPr>
            <a:r>
              <a:rPr sz="1500" b="1" i="0">
                <a:solidFill>
                  <a:srgbClr val="054E5A"/>
                </a:solidFill>
                <a:latin typeface="Aptos"/>
              </a:rPr>
              <a:t>Cisco Catalyst Center</a:t>
            </a:r>
          </a:p>
        </p:txBody>
      </p:sp>
      <p:sp>
        <p:nvSpPr>
          <p:cNvPr id="14" name="TextBox 13"/>
          <p:cNvSpPr txBox="1"/>
          <p:nvPr/>
        </p:nvSpPr>
        <p:spPr>
          <a:xfrm>
            <a:off x="676656" y="3776472"/>
            <a:ext cx="2112264" cy="758952"/>
          </a:xfrm>
          <a:prstGeom prst="rect">
            <a:avLst/>
          </a:prstGeom>
          <a:noFill/>
        </p:spPr>
        <p:txBody>
          <a:bodyPr wrap="square" lIns="9144" rIns="9144" tIns="9144" bIns="9144" anchor="t">
            <a:spAutoFit/>
          </a:bodyPr>
          <a:lstStyle/>
          <a:p>
            <a:pPr algn="l">
              <a:spcBef>
                <a:spcPts val="0"/>
              </a:spcBef>
              <a:spcAft>
                <a:spcPts val="0"/>
              </a:spcAft>
            </a:pPr>
            <a:r>
              <a:rPr sz="1050" b="0" i="0">
                <a:solidFill>
                  <a:srgbClr val="5C6A6C"/>
                </a:solidFill>
                <a:latin typeface="Aptos"/>
              </a:rPr>
              <a:t>Network-discovered devices, connectivity and network attributes</a:t>
            </a:r>
          </a:p>
        </p:txBody>
      </p:sp>
      <p:sp>
        <p:nvSpPr>
          <p:cNvPr id="15" name="Rounded Rectangle 14"/>
          <p:cNvSpPr/>
          <p:nvPr/>
        </p:nvSpPr>
        <p:spPr>
          <a:xfrm>
            <a:off x="3657600" y="2350008"/>
            <a:ext cx="1737360" cy="1316736"/>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0" y="2350008"/>
            <a:ext cx="64008" cy="1316736"/>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22191" y="2478024"/>
            <a:ext cx="1463039" cy="292608"/>
          </a:xfrm>
          <a:prstGeom prst="rect">
            <a:avLst/>
          </a:prstGeom>
          <a:noFill/>
        </p:spPr>
        <p:txBody>
          <a:bodyPr wrap="square" lIns="9144" rIns="9144" tIns="9144" bIns="9144" anchor="t">
            <a:spAutoFit/>
          </a:bodyPr>
          <a:lstStyle/>
          <a:p>
            <a:pPr algn="l">
              <a:spcBef>
                <a:spcPts val="0"/>
              </a:spcBef>
              <a:spcAft>
                <a:spcPts val="0"/>
              </a:spcAft>
            </a:pPr>
            <a:r>
              <a:rPr sz="1600" b="1" i="0">
                <a:solidFill>
                  <a:srgbClr val="054E5A"/>
                </a:solidFill>
                <a:latin typeface="Aptos"/>
              </a:rPr>
              <a:t>Upload App</a:t>
            </a:r>
          </a:p>
        </p:txBody>
      </p:sp>
      <p:sp>
        <p:nvSpPr>
          <p:cNvPr id="18" name="TextBox 17"/>
          <p:cNvSpPr txBox="1"/>
          <p:nvPr/>
        </p:nvSpPr>
        <p:spPr>
          <a:xfrm>
            <a:off x="3822191" y="2834639"/>
            <a:ext cx="1444751" cy="768096"/>
          </a:xfrm>
          <a:prstGeom prst="rect">
            <a:avLst/>
          </a:prstGeom>
          <a:noFill/>
        </p:spPr>
        <p:txBody>
          <a:bodyPr wrap="square" lIns="9144" rIns="9144" tIns="9144" bIns="9144" anchor="t">
            <a:spAutoFit/>
          </a:bodyPr>
          <a:lstStyle/>
          <a:p>
            <a:pPr algn="l">
              <a:spcBef>
                <a:spcPts val="0"/>
              </a:spcBef>
              <a:spcAft>
                <a:spcPts val="0"/>
              </a:spcAft>
            </a:pPr>
            <a:r>
              <a:rPr sz="1050" b="0" i="0">
                <a:solidFill>
                  <a:srgbClr val="5C6A6C"/>
                </a:solidFill>
                <a:latin typeface="Aptos"/>
              </a:rPr>
              <a:t>Source files are uploaded to the database</a:t>
            </a:r>
          </a:p>
        </p:txBody>
      </p:sp>
      <p:sp>
        <p:nvSpPr>
          <p:cNvPr id="19" name="Rounded Rectangle 18"/>
          <p:cNvSpPr/>
          <p:nvPr/>
        </p:nvSpPr>
        <p:spPr>
          <a:xfrm>
            <a:off x="6236208" y="2350008"/>
            <a:ext cx="1956816" cy="1316736"/>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8" y="2350008"/>
            <a:ext cx="64008" cy="1316736"/>
          </a:xfrm>
          <a:prstGeom prst="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0" y="2478024"/>
            <a:ext cx="1682496" cy="292608"/>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Database</a:t>
            </a:r>
          </a:p>
        </p:txBody>
      </p:sp>
      <p:sp>
        <p:nvSpPr>
          <p:cNvPr id="22" name="TextBox 21"/>
          <p:cNvSpPr txBox="1"/>
          <p:nvPr/>
        </p:nvSpPr>
        <p:spPr>
          <a:xfrm>
            <a:off x="6400800" y="2834639"/>
            <a:ext cx="1664208" cy="768096"/>
          </a:xfrm>
          <a:prstGeom prst="rect">
            <a:avLst/>
          </a:prstGeom>
          <a:noFill/>
        </p:spPr>
        <p:txBody>
          <a:bodyPr wrap="square" lIns="9144" rIns="9144" tIns="9144" bIns="9144" anchor="t">
            <a:spAutoFit/>
          </a:bodyPr>
          <a:lstStyle/>
          <a:p>
            <a:pPr algn="l">
              <a:spcBef>
                <a:spcPts val="0"/>
              </a:spcBef>
              <a:spcAft>
                <a:spcPts val="0"/>
              </a:spcAft>
            </a:pPr>
            <a:r>
              <a:rPr sz="1050" b="0" i="0">
                <a:solidFill>
                  <a:srgbClr val="5C6A6C"/>
                </a:solidFill>
                <a:latin typeface="Aptos"/>
              </a:rPr>
              <a:t>Centralized OT/IoT device dataset</a:t>
            </a:r>
          </a:p>
        </p:txBody>
      </p:sp>
      <p:sp>
        <p:nvSpPr>
          <p:cNvPr id="23" name="Rounded Rectangle 22"/>
          <p:cNvSpPr/>
          <p:nvPr/>
        </p:nvSpPr>
        <p:spPr>
          <a:xfrm>
            <a:off x="9162288" y="2350008"/>
            <a:ext cx="2468880" cy="1316736"/>
          </a:xfrm>
          <a:prstGeom prst="roundRect">
            <a:avLst/>
          </a:prstGeom>
          <a:solidFill>
            <a:srgbClr val="EDF0E8"/>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62288" y="2350008"/>
            <a:ext cx="64008" cy="1316736"/>
          </a:xfrm>
          <a:prstGeom prst="rect">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0" y="2478024"/>
            <a:ext cx="2194560" cy="292608"/>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OT/IoT Report</a:t>
            </a:r>
          </a:p>
        </p:txBody>
      </p:sp>
      <p:sp>
        <p:nvSpPr>
          <p:cNvPr id="26" name="TextBox 25"/>
          <p:cNvSpPr txBox="1"/>
          <p:nvPr/>
        </p:nvSpPr>
        <p:spPr>
          <a:xfrm>
            <a:off x="9326880" y="2834639"/>
            <a:ext cx="2176272" cy="768096"/>
          </a:xfrm>
          <a:prstGeom prst="rect">
            <a:avLst/>
          </a:prstGeom>
          <a:noFill/>
        </p:spPr>
        <p:txBody>
          <a:bodyPr wrap="square" lIns="9144" rIns="9144" tIns="9144" bIns="9144" anchor="t">
            <a:spAutoFit/>
          </a:bodyPr>
          <a:lstStyle/>
          <a:p>
            <a:pPr algn="l">
              <a:spcBef>
                <a:spcPts val="0"/>
              </a:spcBef>
              <a:spcAft>
                <a:spcPts val="0"/>
              </a:spcAft>
            </a:pPr>
            <a:r>
              <a:rPr sz="1050" b="0" i="0">
                <a:solidFill>
                  <a:srgbClr val="5C6A6C"/>
                </a:solidFill>
                <a:latin typeface="Aptos"/>
              </a:rPr>
              <a:t>Management visibility and reporting</a:t>
            </a:r>
          </a:p>
        </p:txBody>
      </p:sp>
      <p:cxnSp>
        <p:nvCxnSpPr>
          <p:cNvPr id="27" name="Connector 26"/>
          <p:cNvCxnSpPr/>
          <p:nvPr/>
        </p:nvCxnSpPr>
        <p:spPr>
          <a:xfrm>
            <a:off x="2916936" y="2194560"/>
            <a:ext cx="283464" cy="0"/>
          </a:xfrm>
          <a:prstGeom prst="line">
            <a:avLst/>
          </a:prstGeom>
          <a:ln w="26670">
            <a:solidFill>
              <a:srgbClr val="054E5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200400" y="2194560"/>
            <a:ext cx="0" cy="804672"/>
          </a:xfrm>
          <a:prstGeom prst="line">
            <a:avLst/>
          </a:prstGeom>
          <a:ln w="26670">
            <a:solidFill>
              <a:srgbClr val="054E5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16936" y="3941063"/>
            <a:ext cx="283464" cy="0"/>
          </a:xfrm>
          <a:prstGeom prst="line">
            <a:avLst/>
          </a:prstGeom>
          <a:ln w="26670">
            <a:solidFill>
              <a:srgbClr val="054E5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200400" y="2999232"/>
            <a:ext cx="0" cy="941831"/>
          </a:xfrm>
          <a:prstGeom prst="line">
            <a:avLst/>
          </a:prstGeom>
          <a:ln w="26670">
            <a:solidFill>
              <a:srgbClr val="054E5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00400" y="2999232"/>
            <a:ext cx="457200" cy="0"/>
          </a:xfrm>
          <a:prstGeom prst="line">
            <a:avLst/>
          </a:prstGeom>
          <a:ln w="26670">
            <a:solidFill>
              <a:srgbClr val="054E5A"/>
            </a:solidFill>
          </a:ln>
        </p:spPr>
        <p:style>
          <a:lnRef idx="2">
            <a:schemeClr val="accent1"/>
          </a:lnRef>
          <a:fillRef idx="0">
            <a:schemeClr val="accent1"/>
          </a:fillRef>
          <a:effectRef idx="1">
            <a:schemeClr val="accent1"/>
          </a:effectRef>
          <a:fontRef idx="minor">
            <a:schemeClr val="tx1"/>
          </a:fontRef>
        </p:style>
      </p:cxnSp>
      <p:sp>
        <p:nvSpPr>
          <p:cNvPr id="32" name="Right Arrow 31"/>
          <p:cNvSpPr/>
          <p:nvPr/>
        </p:nvSpPr>
        <p:spPr>
          <a:xfrm>
            <a:off x="3419856" y="2889504"/>
            <a:ext cx="228600" cy="201168"/>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5504688" y="2880360"/>
            <a:ext cx="438912" cy="228600"/>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ight Arrow 33"/>
          <p:cNvSpPr/>
          <p:nvPr/>
        </p:nvSpPr>
        <p:spPr>
          <a:xfrm>
            <a:off x="8403336" y="2880360"/>
            <a:ext cx="438912" cy="228600"/>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144768" y="4315968"/>
            <a:ext cx="2176272" cy="713232"/>
          </a:xfrm>
          <a:prstGeom prst="roundRect">
            <a:avLst/>
          </a:prstGeom>
          <a:solidFill>
            <a:srgbClr val="F6EFE4"/>
          </a:solidFill>
          <a:ln w="12700">
            <a:solidFill>
              <a:srgbClr val="E3D2B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0216" y="4407408"/>
            <a:ext cx="1865376" cy="210312"/>
          </a:xfrm>
          <a:prstGeom prst="rect">
            <a:avLst/>
          </a:prstGeom>
          <a:noFill/>
        </p:spPr>
        <p:txBody>
          <a:bodyPr wrap="square" lIns="9144" rIns="9144" tIns="9144" bIns="9144" anchor="t">
            <a:spAutoFit/>
          </a:bodyPr>
          <a:lstStyle/>
          <a:p>
            <a:pPr algn="ctr">
              <a:spcBef>
                <a:spcPts val="0"/>
              </a:spcBef>
              <a:spcAft>
                <a:spcPts val="0"/>
              </a:spcAft>
            </a:pPr>
            <a:r>
              <a:rPr sz="1230" b="1" i="0">
                <a:solidFill>
                  <a:srgbClr val="054E5A"/>
                </a:solidFill>
                <a:latin typeface="Aptos"/>
              </a:rPr>
              <a:t>Manual reference tables</a:t>
            </a:r>
          </a:p>
        </p:txBody>
      </p:sp>
      <p:sp>
        <p:nvSpPr>
          <p:cNvPr id="37" name="TextBox 36"/>
          <p:cNvSpPr txBox="1"/>
          <p:nvPr/>
        </p:nvSpPr>
        <p:spPr>
          <a:xfrm>
            <a:off x="6300216" y="4645152"/>
            <a:ext cx="1865376" cy="201168"/>
          </a:xfrm>
          <a:prstGeom prst="rect">
            <a:avLst/>
          </a:prstGeom>
          <a:noFill/>
        </p:spPr>
        <p:txBody>
          <a:bodyPr wrap="square" lIns="9144" rIns="9144" tIns="9144" bIns="9144" anchor="t">
            <a:spAutoFit/>
          </a:bodyPr>
          <a:lstStyle/>
          <a:p>
            <a:pPr algn="ctr">
              <a:spcBef>
                <a:spcPts val="0"/>
              </a:spcBef>
              <a:spcAft>
                <a:spcPts val="0"/>
              </a:spcAft>
            </a:pPr>
            <a:r>
              <a:rPr sz="1000" b="0" i="0">
                <a:solidFill>
                  <a:srgbClr val="5C6A6C"/>
                </a:solidFill>
                <a:latin typeface="Aptos"/>
              </a:rPr>
              <a:t>Fill attribute gaps</a:t>
            </a:r>
          </a:p>
        </p:txBody>
      </p:sp>
      <p:cxnSp>
        <p:nvCxnSpPr>
          <p:cNvPr id="38" name="Connector 37"/>
          <p:cNvCxnSpPr/>
          <p:nvPr/>
        </p:nvCxnSpPr>
        <p:spPr>
          <a:xfrm flipV="1">
            <a:off x="7232904" y="3950208"/>
            <a:ext cx="0" cy="365760"/>
          </a:xfrm>
          <a:prstGeom prst="line">
            <a:avLst/>
          </a:prstGeom>
          <a:ln w="25400">
            <a:solidFill>
              <a:srgbClr val="E1B77E"/>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548640" y="5376672"/>
            <a:ext cx="11082528" cy="713232"/>
          </a:xfrm>
          <a:prstGeom prst="round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95528" y="5504688"/>
            <a:ext cx="1993392" cy="329184"/>
          </a:xfrm>
          <a:prstGeom prst="rect">
            <a:avLst/>
          </a:prstGeom>
          <a:noFill/>
        </p:spPr>
        <p:txBody>
          <a:bodyPr wrap="square" lIns="9144" rIns="9144" tIns="9144" bIns="9144" anchor="ctr">
            <a:spAutoFit/>
          </a:bodyPr>
          <a:lstStyle/>
          <a:p>
            <a:pPr algn="l">
              <a:spcBef>
                <a:spcPts val="0"/>
              </a:spcBef>
              <a:spcAft>
                <a:spcPts val="0"/>
              </a:spcAft>
            </a:pPr>
            <a:r>
              <a:rPr sz="1000" b="1" i="0">
                <a:solidFill>
                  <a:srgbClr val="E1B77E"/>
                </a:solidFill>
                <a:latin typeface="Aptos"/>
              </a:rPr>
              <a:t>IMPROVEMENT FOCUS</a:t>
            </a:r>
          </a:p>
        </p:txBody>
      </p:sp>
      <p:sp>
        <p:nvSpPr>
          <p:cNvPr id="41" name="TextBox 40"/>
          <p:cNvSpPr txBox="1"/>
          <p:nvPr/>
        </p:nvSpPr>
        <p:spPr>
          <a:xfrm>
            <a:off x="2788920" y="5495544"/>
            <a:ext cx="8458200" cy="347472"/>
          </a:xfrm>
          <a:prstGeom prst="rect">
            <a:avLst/>
          </a:prstGeom>
          <a:noFill/>
        </p:spPr>
        <p:txBody>
          <a:bodyPr wrap="square" lIns="9144" rIns="9144" tIns="9144" bIns="9144" anchor="ctr">
            <a:spAutoFit/>
          </a:bodyPr>
          <a:lstStyle/>
          <a:p>
            <a:pPr algn="l">
              <a:spcBef>
                <a:spcPts val="0"/>
              </a:spcBef>
              <a:spcAft>
                <a:spcPts val="0"/>
              </a:spcAft>
            </a:pPr>
            <a:r>
              <a:rPr sz="1420" b="1" i="0">
                <a:solidFill>
                  <a:srgbClr val="FFFFFF"/>
                </a:solidFill>
                <a:latin typeface="Aptos"/>
              </a:rPr>
              <a:t>Data consistency  •  Upload automation  •  Less manual reference-data maintenance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CECEC"/>
        </a:solidFill>
        <a:effectLst/>
      </p:bgPr>
    </p:bg>
    <p:spTree>
      <p:nvGrpSpPr>
        <p:cNvPr id="1" name=""/>
        <p:cNvGrpSpPr/>
        <p:nvPr/>
      </p:nvGrpSpPr>
      <p:grpSpPr/>
      <p:sp>
        <p:nvSpPr>
          <p:cNvPr id="2" name="TextBox 1"/>
          <p:cNvSpPr txBox="1"/>
          <p:nvPr/>
        </p:nvSpPr>
        <p:spPr>
          <a:xfrm>
            <a:off x="502920" y="310896"/>
            <a:ext cx="11155680" cy="502920"/>
          </a:xfrm>
          <a:prstGeom prst="rect">
            <a:avLst/>
          </a:prstGeom>
          <a:noFill/>
        </p:spPr>
        <p:txBody>
          <a:bodyPr wrap="square" lIns="9144" rIns="9144" tIns="9144" bIns="9144" anchor="t">
            <a:spAutoFit/>
          </a:bodyPr>
          <a:lstStyle/>
          <a:p>
            <a:pPr algn="l">
              <a:spcBef>
                <a:spcPts val="0"/>
              </a:spcBef>
              <a:spcAft>
                <a:spcPts val="0"/>
              </a:spcAft>
            </a:pPr>
            <a:r>
              <a:rPr sz="2700" b="1" i="0">
                <a:solidFill>
                  <a:srgbClr val="054E5A"/>
                </a:solidFill>
                <a:latin typeface="Aptos Display"/>
              </a:rPr>
              <a:t>Security Tag Delivery Is Not End-to-End</a:t>
            </a:r>
          </a:p>
        </p:txBody>
      </p:sp>
      <p:sp>
        <p:nvSpPr>
          <p:cNvPr id="3" name="Rectangle 2"/>
          <p:cNvSpPr/>
          <p:nvPr/>
        </p:nvSpPr>
        <p:spPr>
          <a:xfrm>
            <a:off x="521207" y="896112"/>
            <a:ext cx="658368" cy="50292"/>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87552"/>
            <a:ext cx="10972800" cy="310896"/>
          </a:xfrm>
          <a:prstGeom prst="rect">
            <a:avLst/>
          </a:prstGeom>
          <a:noFill/>
        </p:spPr>
        <p:txBody>
          <a:bodyPr wrap="square" lIns="9144" rIns="9144" tIns="9144" bIns="9144" anchor="t">
            <a:spAutoFit/>
          </a:bodyPr>
          <a:lstStyle/>
          <a:p>
            <a:pPr algn="l">
              <a:spcBef>
                <a:spcPts val="0"/>
              </a:spcBef>
              <a:spcAft>
                <a:spcPts val="0"/>
              </a:spcAft>
            </a:pPr>
            <a:r>
              <a:rPr sz="1220" b="0" i="0">
                <a:solidFill>
                  <a:srgbClr val="5C6A6C"/>
                </a:solidFill>
                <a:latin typeface="Aptos"/>
              </a:rPr>
              <a:t>CHN175 OT Device Security Tag Loss  •  RITM1404207 remains unresolved</a:t>
            </a:r>
          </a:p>
        </p:txBody>
      </p:sp>
      <p:sp>
        <p:nvSpPr>
          <p:cNvPr id="5" name="TextBox 4"/>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738083"/>
                </a:solidFill>
                <a:latin typeface="Aptos"/>
              </a:rPr>
              <a:t>OT/IoT MANAGEMENT  •  LOCAL IT  •  CENTRALOPS  •  CYBERSECURITY</a:t>
            </a:r>
          </a:p>
        </p:txBody>
      </p:sp>
      <p:sp>
        <p:nvSpPr>
          <p:cNvPr id="6" name="TextBox 5"/>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738083"/>
                </a:solidFill>
                <a:latin typeface="Aptos"/>
              </a:rPr>
              <a:t>05 / 08</a:t>
            </a:r>
          </a:p>
        </p:txBody>
      </p:sp>
      <p:sp>
        <p:nvSpPr>
          <p:cNvPr id="7" name="Rounded Rectangle 6"/>
          <p:cNvSpPr/>
          <p:nvPr/>
        </p:nvSpPr>
        <p:spPr>
          <a:xfrm>
            <a:off x="9555480" y="1024128"/>
            <a:ext cx="2075688" cy="301752"/>
          </a:xfrm>
          <a:prstGeom prst="roundRect">
            <a:avLst/>
          </a:prstGeom>
          <a:solidFill>
            <a:srgbClr val="F8E9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10344" y="1033272"/>
            <a:ext cx="1965960" cy="283464"/>
          </a:xfrm>
          <a:prstGeom prst="rect">
            <a:avLst/>
          </a:prstGeom>
          <a:noFill/>
        </p:spPr>
        <p:txBody>
          <a:bodyPr wrap="square" lIns="9144" rIns="9144" tIns="9144" bIns="9144" anchor="ctr">
            <a:spAutoFit/>
          </a:bodyPr>
          <a:lstStyle/>
          <a:p>
            <a:pPr algn="ctr">
              <a:spcBef>
                <a:spcPts val="0"/>
              </a:spcBef>
              <a:spcAft>
                <a:spcPts val="0"/>
              </a:spcAft>
            </a:pPr>
            <a:r>
              <a:rPr sz="900" b="1" i="0">
                <a:solidFill>
                  <a:srgbClr val="B94A3B"/>
                </a:solidFill>
                <a:latin typeface="Aptos"/>
              </a:rPr>
              <a:t>OPEN  •  UNDER INVESTIGATION</a:t>
            </a:r>
          </a:p>
        </p:txBody>
      </p:sp>
      <p:sp>
        <p:nvSpPr>
          <p:cNvPr id="9" name="Rounded Rectangle 8"/>
          <p:cNvSpPr/>
          <p:nvPr/>
        </p:nvSpPr>
        <p:spPr>
          <a:xfrm>
            <a:off x="530352" y="1847088"/>
            <a:ext cx="1901952" cy="1005840"/>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002536"/>
            <a:ext cx="1682496" cy="274320"/>
          </a:xfrm>
          <a:prstGeom prst="rect">
            <a:avLst/>
          </a:prstGeom>
          <a:noFill/>
        </p:spPr>
        <p:txBody>
          <a:bodyPr wrap="square" lIns="9144" rIns="9144" tIns="9144" bIns="9144" anchor="t">
            <a:spAutoFit/>
          </a:bodyPr>
          <a:lstStyle/>
          <a:p>
            <a:pPr algn="ctr">
              <a:spcBef>
                <a:spcPts val="0"/>
              </a:spcBef>
              <a:spcAft>
                <a:spcPts val="0"/>
              </a:spcAft>
            </a:pPr>
            <a:r>
              <a:rPr sz="1500" b="1" i="0">
                <a:solidFill>
                  <a:srgbClr val="054E5A"/>
                </a:solidFill>
                <a:latin typeface="Aptos"/>
              </a:rPr>
              <a:t>User / Device</a:t>
            </a:r>
          </a:p>
        </p:txBody>
      </p:sp>
      <p:sp>
        <p:nvSpPr>
          <p:cNvPr id="11" name="TextBox 10"/>
          <p:cNvSpPr txBox="1"/>
          <p:nvPr/>
        </p:nvSpPr>
        <p:spPr>
          <a:xfrm>
            <a:off x="630936" y="2340864"/>
            <a:ext cx="1700784" cy="320040"/>
          </a:xfrm>
          <a:prstGeom prst="rect">
            <a:avLst/>
          </a:prstGeom>
          <a:noFill/>
        </p:spPr>
        <p:txBody>
          <a:bodyPr wrap="square" lIns="9144" rIns="9144" tIns="9144" bIns="9144" anchor="ctr">
            <a:spAutoFit/>
          </a:bodyPr>
          <a:lstStyle/>
          <a:p>
            <a:pPr algn="ctr">
              <a:spcBef>
                <a:spcPts val="0"/>
              </a:spcBef>
              <a:spcAft>
                <a:spcPts val="0"/>
              </a:spcAft>
            </a:pPr>
            <a:r>
              <a:rPr sz="1019" b="0" i="0">
                <a:solidFill>
                  <a:srgbClr val="5C6A6C"/>
                </a:solidFill>
                <a:latin typeface="Aptos"/>
              </a:rPr>
              <a:t>Re-authentication</a:t>
            </a:r>
          </a:p>
        </p:txBody>
      </p:sp>
      <p:sp>
        <p:nvSpPr>
          <p:cNvPr id="12" name="Rounded Rectangle 11"/>
          <p:cNvSpPr/>
          <p:nvPr/>
        </p:nvSpPr>
        <p:spPr>
          <a:xfrm>
            <a:off x="3090672" y="1847088"/>
            <a:ext cx="1901952" cy="1005840"/>
          </a:xfrm>
          <a:prstGeom prst="roundRect">
            <a:avLst/>
          </a:prstGeom>
          <a:solidFill>
            <a:srgbClr val="EDF0E8"/>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0" y="2002536"/>
            <a:ext cx="1682496" cy="274320"/>
          </a:xfrm>
          <a:prstGeom prst="rect">
            <a:avLst/>
          </a:prstGeom>
          <a:noFill/>
        </p:spPr>
        <p:txBody>
          <a:bodyPr wrap="square" lIns="9144" rIns="9144" tIns="9144" bIns="9144" anchor="t">
            <a:spAutoFit/>
          </a:bodyPr>
          <a:lstStyle/>
          <a:p>
            <a:pPr algn="ctr">
              <a:spcBef>
                <a:spcPts val="0"/>
              </a:spcBef>
              <a:spcAft>
                <a:spcPts val="0"/>
              </a:spcAft>
            </a:pPr>
            <a:r>
              <a:rPr sz="1500" b="1" i="0">
                <a:solidFill>
                  <a:srgbClr val="054E5A"/>
                </a:solidFill>
                <a:latin typeface="Aptos"/>
              </a:rPr>
              <a:t>Cisco ISE</a:t>
            </a:r>
          </a:p>
        </p:txBody>
      </p:sp>
      <p:sp>
        <p:nvSpPr>
          <p:cNvPr id="14" name="TextBox 13"/>
          <p:cNvSpPr txBox="1"/>
          <p:nvPr/>
        </p:nvSpPr>
        <p:spPr>
          <a:xfrm>
            <a:off x="3191256" y="2340864"/>
            <a:ext cx="1700784" cy="320040"/>
          </a:xfrm>
          <a:prstGeom prst="rect">
            <a:avLst/>
          </a:prstGeom>
          <a:noFill/>
        </p:spPr>
        <p:txBody>
          <a:bodyPr wrap="square" lIns="9144" rIns="9144" tIns="9144" bIns="9144" anchor="ctr">
            <a:spAutoFit/>
          </a:bodyPr>
          <a:lstStyle/>
          <a:p>
            <a:pPr algn="ctr">
              <a:spcBef>
                <a:spcPts val="0"/>
              </a:spcBef>
              <a:spcAft>
                <a:spcPts val="0"/>
              </a:spcAft>
            </a:pPr>
            <a:r>
              <a:rPr sz="1019" b="0" i="0">
                <a:solidFill>
                  <a:srgbClr val="5C6A6C"/>
                </a:solidFill>
                <a:latin typeface="Aptos"/>
              </a:rPr>
              <a:t>Required tags sent</a:t>
            </a:r>
          </a:p>
        </p:txBody>
      </p:sp>
      <p:sp>
        <p:nvSpPr>
          <p:cNvPr id="15" name="Rounded Rectangle 14"/>
          <p:cNvSpPr/>
          <p:nvPr/>
        </p:nvSpPr>
        <p:spPr>
          <a:xfrm>
            <a:off x="5650992" y="1847088"/>
            <a:ext cx="1901952" cy="1005840"/>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0" y="2002536"/>
            <a:ext cx="1682496" cy="274320"/>
          </a:xfrm>
          <a:prstGeom prst="rect">
            <a:avLst/>
          </a:prstGeom>
          <a:noFill/>
        </p:spPr>
        <p:txBody>
          <a:bodyPr wrap="square" lIns="9144" rIns="9144" tIns="9144" bIns="9144" anchor="t">
            <a:spAutoFit/>
          </a:bodyPr>
          <a:lstStyle/>
          <a:p>
            <a:pPr algn="ctr">
              <a:spcBef>
                <a:spcPts val="0"/>
              </a:spcBef>
              <a:spcAft>
                <a:spcPts val="0"/>
              </a:spcAft>
            </a:pPr>
            <a:r>
              <a:rPr sz="1500" b="1" i="0">
                <a:solidFill>
                  <a:srgbClr val="054E5A"/>
                </a:solidFill>
                <a:latin typeface="Aptos"/>
              </a:rPr>
              <a:t>IDC</a:t>
            </a:r>
          </a:p>
        </p:txBody>
      </p:sp>
      <p:sp>
        <p:nvSpPr>
          <p:cNvPr id="17" name="TextBox 16"/>
          <p:cNvSpPr txBox="1"/>
          <p:nvPr/>
        </p:nvSpPr>
        <p:spPr>
          <a:xfrm>
            <a:off x="5751576" y="2340864"/>
            <a:ext cx="1700784" cy="320040"/>
          </a:xfrm>
          <a:prstGeom prst="rect">
            <a:avLst/>
          </a:prstGeom>
          <a:noFill/>
        </p:spPr>
        <p:txBody>
          <a:bodyPr wrap="square" lIns="9144" rIns="9144" tIns="9144" bIns="9144" anchor="ctr">
            <a:spAutoFit/>
          </a:bodyPr>
          <a:lstStyle/>
          <a:p>
            <a:pPr algn="ctr">
              <a:spcBef>
                <a:spcPts val="0"/>
              </a:spcBef>
              <a:spcAft>
                <a:spcPts val="0"/>
              </a:spcAft>
            </a:pPr>
            <a:r>
              <a:rPr sz="1019" b="0" i="0">
                <a:solidFill>
                  <a:srgbClr val="5C6A6C"/>
                </a:solidFill>
                <a:latin typeface="Aptos"/>
              </a:rPr>
              <a:t>Tag forwarding unclear</a:t>
            </a:r>
          </a:p>
        </p:txBody>
      </p:sp>
      <p:sp>
        <p:nvSpPr>
          <p:cNvPr id="18" name="Rounded Rectangle 17"/>
          <p:cNvSpPr/>
          <p:nvPr/>
        </p:nvSpPr>
        <p:spPr>
          <a:xfrm>
            <a:off x="8302752" y="1847088"/>
            <a:ext cx="1901952" cy="1005840"/>
          </a:xfrm>
          <a:prstGeom prst="roundRect">
            <a:avLst/>
          </a:prstGeom>
          <a:solidFill>
            <a:srgbClr val="F8E9E6"/>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002536"/>
            <a:ext cx="1682496" cy="274320"/>
          </a:xfrm>
          <a:prstGeom prst="rect">
            <a:avLst/>
          </a:prstGeom>
          <a:noFill/>
        </p:spPr>
        <p:txBody>
          <a:bodyPr wrap="square" lIns="9144" rIns="9144" tIns="9144" bIns="9144" anchor="t">
            <a:spAutoFit/>
          </a:bodyPr>
          <a:lstStyle/>
          <a:p>
            <a:pPr algn="ctr">
              <a:spcBef>
                <a:spcPts val="0"/>
              </a:spcBef>
              <a:spcAft>
                <a:spcPts val="0"/>
              </a:spcAft>
            </a:pPr>
            <a:r>
              <a:rPr sz="1500" b="1" i="0">
                <a:solidFill>
                  <a:srgbClr val="054E5A"/>
                </a:solidFill>
                <a:latin typeface="Aptos"/>
              </a:rPr>
              <a:t>Firewall</a:t>
            </a:r>
          </a:p>
        </p:txBody>
      </p:sp>
      <p:sp>
        <p:nvSpPr>
          <p:cNvPr id="20" name="TextBox 19"/>
          <p:cNvSpPr txBox="1"/>
          <p:nvPr/>
        </p:nvSpPr>
        <p:spPr>
          <a:xfrm>
            <a:off x="8403336" y="2340864"/>
            <a:ext cx="1700784" cy="320040"/>
          </a:xfrm>
          <a:prstGeom prst="rect">
            <a:avLst/>
          </a:prstGeom>
          <a:noFill/>
        </p:spPr>
        <p:txBody>
          <a:bodyPr wrap="square" lIns="9144" rIns="9144" tIns="9144" bIns="9144" anchor="ctr">
            <a:spAutoFit/>
          </a:bodyPr>
          <a:lstStyle/>
          <a:p>
            <a:pPr algn="ctr">
              <a:spcBef>
                <a:spcPts val="0"/>
              </a:spcBef>
              <a:spcAft>
                <a:spcPts val="0"/>
              </a:spcAft>
            </a:pPr>
            <a:r>
              <a:rPr sz="1019" b="0" i="0">
                <a:solidFill>
                  <a:srgbClr val="5C6A6C"/>
                </a:solidFill>
                <a:latin typeface="Aptos"/>
              </a:rPr>
              <a:t>Tags not received or not applied as expected</a:t>
            </a:r>
          </a:p>
        </p:txBody>
      </p:sp>
      <p:sp>
        <p:nvSpPr>
          <p:cNvPr id="21" name="Right Arrow 20"/>
          <p:cNvSpPr/>
          <p:nvPr/>
        </p:nvSpPr>
        <p:spPr>
          <a:xfrm>
            <a:off x="2532888" y="2221992"/>
            <a:ext cx="310896" cy="210312"/>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ight Arrow 21"/>
          <p:cNvSpPr/>
          <p:nvPr/>
        </p:nvSpPr>
        <p:spPr>
          <a:xfrm>
            <a:off x="5093208" y="2221992"/>
            <a:ext cx="310896" cy="210312"/>
          </a:xfrm>
          <a:prstGeom prst="rightArrow">
            <a:avLst/>
          </a:prstGeom>
          <a:solidFill>
            <a:srgbClr val="4F7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653527" y="2322576"/>
            <a:ext cx="512065" cy="0"/>
          </a:xfrm>
          <a:prstGeom prst="line">
            <a:avLst/>
          </a:prstGeom>
          <a:ln w="30480">
            <a:solidFill>
              <a:srgbClr val="B94A3B"/>
            </a:solidFill>
            <a:prstDash val="dash"/>
          </a:ln>
        </p:spPr>
        <p:style>
          <a:lnRef idx="2">
            <a:schemeClr val="accent1"/>
          </a:lnRef>
          <a:fillRef idx="0">
            <a:schemeClr val="accent1"/>
          </a:fillRef>
          <a:effectRef idx="1">
            <a:schemeClr val="accent1"/>
          </a:effectRef>
          <a:fontRef idx="minor">
            <a:schemeClr val="tx1"/>
          </a:fontRef>
        </p:style>
      </p:cxnSp>
      <p:sp>
        <p:nvSpPr>
          <p:cNvPr id="24" name="Right Arrow 23"/>
          <p:cNvSpPr/>
          <p:nvPr/>
        </p:nvSpPr>
        <p:spPr>
          <a:xfrm>
            <a:off x="7936992" y="2212848"/>
            <a:ext cx="274320" cy="219456"/>
          </a:xfrm>
          <a:prstGeom prst="rightArrow">
            <a:avLst/>
          </a:prstGeom>
          <a:solidFill>
            <a:srgbClr val="B94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Isosceles Triangle 24"/>
          <p:cNvSpPr/>
          <p:nvPr/>
        </p:nvSpPr>
        <p:spPr>
          <a:xfrm>
            <a:off x="9966960" y="1664208"/>
            <a:ext cx="292608" cy="265176"/>
          </a:xfrm>
          <a:prstGeom prst="triangle">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40112" y="1737360"/>
            <a:ext cx="146304" cy="137160"/>
          </a:xfrm>
          <a:prstGeom prst="rect">
            <a:avLst/>
          </a:prstGeom>
          <a:noFill/>
        </p:spPr>
        <p:txBody>
          <a:bodyPr wrap="square" lIns="0" rIns="0" tIns="0" bIns="0" anchor="t">
            <a:spAutoFit/>
          </a:bodyPr>
          <a:lstStyle/>
          <a:p>
            <a:pPr algn="ctr">
              <a:spcBef>
                <a:spcPts val="0"/>
              </a:spcBef>
              <a:spcAft>
                <a:spcPts val="0"/>
              </a:spcAft>
            </a:pPr>
            <a:r>
              <a:rPr sz="900" b="1" i="0">
                <a:solidFill>
                  <a:srgbClr val="054E5A"/>
                </a:solidFill>
                <a:latin typeface="Aptos"/>
              </a:rPr>
              <a:t>!</a:t>
            </a:r>
          </a:p>
        </p:txBody>
      </p:sp>
      <p:sp>
        <p:nvSpPr>
          <p:cNvPr id="27" name="Rounded Rectangle 26"/>
          <p:cNvSpPr/>
          <p:nvPr/>
        </p:nvSpPr>
        <p:spPr>
          <a:xfrm>
            <a:off x="530352" y="3337560"/>
            <a:ext cx="3557016" cy="2313432"/>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30352" y="3337560"/>
            <a:ext cx="3557016" cy="82296"/>
          </a:xfrm>
          <a:prstGeom prst="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3575304"/>
            <a:ext cx="3182112" cy="310896"/>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Observed</a:t>
            </a:r>
          </a:p>
        </p:txBody>
      </p:sp>
      <p:sp>
        <p:nvSpPr>
          <p:cNvPr id="30" name="TextBox 29"/>
          <p:cNvSpPr txBox="1"/>
          <p:nvPr/>
        </p:nvSpPr>
        <p:spPr>
          <a:xfrm>
            <a:off x="713232" y="4023360"/>
            <a:ext cx="3182112" cy="1408176"/>
          </a:xfrm>
          <a:prstGeom prst="rect">
            <a:avLst/>
          </a:prstGeom>
          <a:noFill/>
        </p:spPr>
        <p:txBody>
          <a:bodyPr wrap="square" lIns="9144" rIns="9144" tIns="9144" bIns="9144" anchor="t">
            <a:spAutoFit/>
          </a:bodyPr>
          <a:lstStyle/>
          <a:p>
            <a:pPr>
              <a:spcBef>
                <a:spcPts val="0"/>
              </a:spcBef>
              <a:spcAft>
                <a:spcPts val="800"/>
              </a:spcAft>
            </a:pPr>
            <a:r>
              <a:rPr sz="1150">
                <a:solidFill>
                  <a:srgbClr val="000000"/>
                </a:solidFill>
                <a:latin typeface="Aptos"/>
              </a:rPr>
              <a:t>–  After re-authentication, ISE sent the required tags to IDC.</a:t>
            </a:r>
          </a:p>
          <a:p>
            <a:pPr>
              <a:spcBef>
                <a:spcPts val="0"/>
              </a:spcBef>
              <a:spcAft>
                <a:spcPts val="800"/>
              </a:spcAft>
            </a:pPr>
            <a:r>
              <a:rPr sz="1150">
                <a:solidFill>
                  <a:srgbClr val="000000"/>
                </a:solidFill>
                <a:latin typeface="Aptos"/>
              </a:rPr>
              <a:t>–  The firewall did not receive or apply them as expected.</a:t>
            </a:r>
          </a:p>
        </p:txBody>
      </p:sp>
      <p:sp>
        <p:nvSpPr>
          <p:cNvPr id="31" name="Rounded Rectangle 30"/>
          <p:cNvSpPr/>
          <p:nvPr/>
        </p:nvSpPr>
        <p:spPr>
          <a:xfrm>
            <a:off x="4315968" y="3337560"/>
            <a:ext cx="3557016" cy="2313432"/>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15968" y="3337560"/>
            <a:ext cx="3557016" cy="82296"/>
          </a:xfrm>
          <a:prstGeom prst="rect">
            <a:avLst/>
          </a:prstGeom>
          <a:solidFill>
            <a:srgbClr val="C88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98848" y="3575304"/>
            <a:ext cx="3182112" cy="310896"/>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Open question</a:t>
            </a:r>
          </a:p>
        </p:txBody>
      </p:sp>
      <p:sp>
        <p:nvSpPr>
          <p:cNvPr id="34" name="TextBox 33"/>
          <p:cNvSpPr txBox="1"/>
          <p:nvPr/>
        </p:nvSpPr>
        <p:spPr>
          <a:xfrm>
            <a:off x="4498848" y="4023360"/>
            <a:ext cx="3182112" cy="1408176"/>
          </a:xfrm>
          <a:prstGeom prst="rect">
            <a:avLst/>
          </a:prstGeom>
          <a:noFill/>
        </p:spPr>
        <p:txBody>
          <a:bodyPr wrap="square" lIns="9144" rIns="9144" tIns="9144" bIns="9144" anchor="t">
            <a:spAutoFit/>
          </a:bodyPr>
          <a:lstStyle/>
          <a:p>
            <a:pPr>
              <a:spcBef>
                <a:spcPts val="0"/>
              </a:spcBef>
              <a:spcAft>
                <a:spcPts val="800"/>
              </a:spcAft>
            </a:pPr>
            <a:r>
              <a:rPr sz="1150">
                <a:solidFill>
                  <a:srgbClr val="000000"/>
                </a:solidFill>
                <a:latin typeface="Aptos"/>
              </a:rPr>
              <a:t>–  Why was tag forwarding not completed end to end?</a:t>
            </a:r>
          </a:p>
          <a:p>
            <a:pPr>
              <a:spcBef>
                <a:spcPts val="0"/>
              </a:spcBef>
              <a:spcAft>
                <a:spcPts val="800"/>
              </a:spcAft>
            </a:pPr>
            <a:r>
              <a:rPr sz="1150">
                <a:solidFill>
                  <a:srgbClr val="000000"/>
                </a:solidFill>
                <a:latin typeface="Aptos"/>
              </a:rPr>
              <a:t>–  Which component owns the permanent corrective action?</a:t>
            </a:r>
          </a:p>
        </p:txBody>
      </p:sp>
      <p:sp>
        <p:nvSpPr>
          <p:cNvPr id="35" name="Rounded Rectangle 34"/>
          <p:cNvSpPr/>
          <p:nvPr/>
        </p:nvSpPr>
        <p:spPr>
          <a:xfrm>
            <a:off x="8101583" y="3337560"/>
            <a:ext cx="3557016" cy="2313432"/>
          </a:xfrm>
          <a:prstGeom prst="roundRect">
            <a:avLst/>
          </a:prstGeom>
          <a:solidFill>
            <a:srgbClr val="F8E9E6"/>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3" y="3337560"/>
            <a:ext cx="3557016" cy="82296"/>
          </a:xfrm>
          <a:prstGeom prst="rect">
            <a:avLst/>
          </a:prstGeom>
          <a:solidFill>
            <a:srgbClr val="B94A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84463" y="3575304"/>
            <a:ext cx="3182112" cy="310896"/>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Business impact</a:t>
            </a:r>
          </a:p>
        </p:txBody>
      </p:sp>
      <p:sp>
        <p:nvSpPr>
          <p:cNvPr id="38" name="TextBox 37"/>
          <p:cNvSpPr txBox="1"/>
          <p:nvPr/>
        </p:nvSpPr>
        <p:spPr>
          <a:xfrm>
            <a:off x="8284463" y="4023360"/>
            <a:ext cx="3182112" cy="1408176"/>
          </a:xfrm>
          <a:prstGeom prst="rect">
            <a:avLst/>
          </a:prstGeom>
          <a:noFill/>
        </p:spPr>
        <p:txBody>
          <a:bodyPr wrap="square" lIns="9144" rIns="9144" tIns="9144" bIns="9144" anchor="t">
            <a:spAutoFit/>
          </a:bodyPr>
          <a:lstStyle/>
          <a:p>
            <a:pPr>
              <a:spcBef>
                <a:spcPts val="0"/>
              </a:spcBef>
              <a:spcAft>
                <a:spcPts val="800"/>
              </a:spcAft>
            </a:pPr>
            <a:r>
              <a:rPr sz="1150">
                <a:solidFill>
                  <a:srgbClr val="000000"/>
                </a:solidFill>
                <a:latin typeface="Aptos"/>
              </a:rPr>
              <a:t>–  Expected network access may be lost.</a:t>
            </a:r>
          </a:p>
          <a:p>
            <a:pPr>
              <a:spcBef>
                <a:spcPts val="0"/>
              </a:spcBef>
              <a:spcAft>
                <a:spcPts val="800"/>
              </a:spcAft>
            </a:pPr>
            <a:r>
              <a:rPr sz="1150">
                <a:solidFill>
                  <a:srgbClr val="000000"/>
                </a:solidFill>
                <a:latin typeface="Aptos"/>
              </a:rPr>
              <a:t>–  Manual troubleshooting may be required.</a:t>
            </a:r>
          </a:p>
          <a:p>
            <a:pPr>
              <a:spcBef>
                <a:spcPts val="0"/>
              </a:spcBef>
              <a:spcAft>
                <a:spcPts val="800"/>
              </a:spcAft>
            </a:pPr>
            <a:r>
              <a:rPr sz="1150">
                <a:solidFill>
                  <a:srgbClr val="000000"/>
                </a:solidFill>
                <a:latin typeface="Aptos"/>
              </a:rPr>
              <a:t>–  No permanent resolution is confirmed.</a:t>
            </a:r>
          </a:p>
        </p:txBody>
      </p:sp>
      <p:sp>
        <p:nvSpPr>
          <p:cNvPr id="39" name="TextBox 38"/>
          <p:cNvSpPr txBox="1"/>
          <p:nvPr/>
        </p:nvSpPr>
        <p:spPr>
          <a:xfrm>
            <a:off x="566928" y="5916168"/>
            <a:ext cx="10972800" cy="256032"/>
          </a:xfrm>
          <a:prstGeom prst="rect">
            <a:avLst/>
          </a:prstGeom>
          <a:noFill/>
        </p:spPr>
        <p:txBody>
          <a:bodyPr wrap="square" lIns="9144" rIns="9144" tIns="9144" bIns="9144" anchor="t">
            <a:spAutoFit/>
          </a:bodyPr>
          <a:lstStyle/>
          <a:p>
            <a:pPr algn="ctr">
              <a:spcBef>
                <a:spcPts val="0"/>
              </a:spcBef>
              <a:spcAft>
                <a:spcPts val="0"/>
              </a:spcAft>
            </a:pPr>
            <a:r>
              <a:rPr sz="1240" b="1" i="0">
                <a:solidFill>
                  <a:srgbClr val="B94A3B"/>
                </a:solidFill>
                <a:latin typeface="Aptos"/>
              </a:rPr>
              <a:t>Root cause not yet confirmed  •  End-to-end validation is still required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CECEC"/>
        </a:solidFill>
        <a:effectLst/>
      </p:bgPr>
    </p:bg>
    <p:spTree>
      <p:nvGrpSpPr>
        <p:cNvPr id="1" name=""/>
        <p:cNvGrpSpPr/>
        <p:nvPr/>
      </p:nvGrpSpPr>
      <p:grpSpPr/>
      <p:sp>
        <p:nvSpPr>
          <p:cNvPr id="2" name="TextBox 1"/>
          <p:cNvSpPr txBox="1"/>
          <p:nvPr/>
        </p:nvSpPr>
        <p:spPr>
          <a:xfrm>
            <a:off x="502920" y="310896"/>
            <a:ext cx="11155680" cy="502920"/>
          </a:xfrm>
          <a:prstGeom prst="rect">
            <a:avLst/>
          </a:prstGeom>
          <a:noFill/>
        </p:spPr>
        <p:txBody>
          <a:bodyPr wrap="square" lIns="9144" rIns="9144" tIns="9144" bIns="9144" anchor="t">
            <a:spAutoFit/>
          </a:bodyPr>
          <a:lstStyle/>
          <a:p>
            <a:pPr algn="l">
              <a:spcBef>
                <a:spcPts val="0"/>
              </a:spcBef>
              <a:spcAft>
                <a:spcPts val="0"/>
              </a:spcAft>
            </a:pPr>
            <a:r>
              <a:rPr sz="2700" b="1" i="0">
                <a:solidFill>
                  <a:srgbClr val="054E5A"/>
                </a:solidFill>
                <a:latin typeface="Aptos Display"/>
              </a:rPr>
              <a:t>Vendor Support Still Depends on Onsite Access</a:t>
            </a:r>
          </a:p>
        </p:txBody>
      </p:sp>
      <p:sp>
        <p:nvSpPr>
          <p:cNvPr id="3" name="Rectangle 2"/>
          <p:cNvSpPr/>
          <p:nvPr/>
        </p:nvSpPr>
        <p:spPr>
          <a:xfrm>
            <a:off x="521207" y="896112"/>
            <a:ext cx="658368" cy="50292"/>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87552"/>
            <a:ext cx="10972800" cy="310896"/>
          </a:xfrm>
          <a:prstGeom prst="rect">
            <a:avLst/>
          </a:prstGeom>
          <a:noFill/>
        </p:spPr>
        <p:txBody>
          <a:bodyPr wrap="square" lIns="9144" rIns="9144" tIns="9144" bIns="9144" anchor="t">
            <a:spAutoFit/>
          </a:bodyPr>
          <a:lstStyle/>
          <a:p>
            <a:pPr algn="l">
              <a:spcBef>
                <a:spcPts val="0"/>
              </a:spcBef>
              <a:spcAft>
                <a:spcPts val="0"/>
              </a:spcAft>
            </a:pPr>
            <a:r>
              <a:rPr sz="1220" b="0" i="0">
                <a:solidFill>
                  <a:srgbClr val="5C6A6C"/>
                </a:solidFill>
                <a:latin typeface="Aptos"/>
              </a:rPr>
              <a:t>The goal is controlled access to specific OT resources—not broad access to the OT network.</a:t>
            </a:r>
          </a:p>
        </p:txBody>
      </p:sp>
      <p:sp>
        <p:nvSpPr>
          <p:cNvPr id="5" name="TextBox 4"/>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738083"/>
                </a:solidFill>
                <a:latin typeface="Aptos"/>
              </a:rPr>
              <a:t>OT/IoT MANAGEMENT  •  LOCAL IT  •  CENTRALOPS  •  CYBERSECURITY</a:t>
            </a:r>
          </a:p>
        </p:txBody>
      </p:sp>
      <p:sp>
        <p:nvSpPr>
          <p:cNvPr id="6" name="TextBox 5"/>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738083"/>
                </a:solidFill>
                <a:latin typeface="Aptos"/>
              </a:rPr>
              <a:t>06 / 08</a:t>
            </a:r>
          </a:p>
        </p:txBody>
      </p:sp>
      <p:sp>
        <p:nvSpPr>
          <p:cNvPr id="7" name="Rounded Rectangle 6"/>
          <p:cNvSpPr/>
          <p:nvPr/>
        </p:nvSpPr>
        <p:spPr>
          <a:xfrm>
            <a:off x="548640" y="1536192"/>
            <a:ext cx="3547872" cy="4151376"/>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36192"/>
            <a:ext cx="3547872" cy="100584"/>
          </a:xfrm>
          <a:prstGeom prst="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10512"/>
            <a:ext cx="3108960" cy="438912"/>
          </a:xfrm>
          <a:prstGeom prst="rect">
            <a:avLst/>
          </a:prstGeom>
          <a:noFill/>
        </p:spPr>
        <p:txBody>
          <a:bodyPr wrap="square" lIns="9144" rIns="9144" tIns="9144" bIns="9144" anchor="t">
            <a:spAutoFit/>
          </a:bodyPr>
          <a:lstStyle/>
          <a:p>
            <a:pPr algn="l">
              <a:spcBef>
                <a:spcPts val="0"/>
              </a:spcBef>
              <a:spcAft>
                <a:spcPts val="0"/>
              </a:spcAft>
            </a:pPr>
            <a:r>
              <a:rPr sz="1800" b="1" i="0">
                <a:solidFill>
                  <a:srgbClr val="054E5A"/>
                </a:solidFill>
                <a:latin typeface="Aptos"/>
              </a:rPr>
              <a:t>Current situation</a:t>
            </a:r>
          </a:p>
        </p:txBody>
      </p:sp>
      <p:sp>
        <p:nvSpPr>
          <p:cNvPr id="10" name="TextBox 9"/>
          <p:cNvSpPr txBox="1"/>
          <p:nvPr/>
        </p:nvSpPr>
        <p:spPr>
          <a:xfrm>
            <a:off x="777240" y="2450592"/>
            <a:ext cx="3063240" cy="2724912"/>
          </a:xfrm>
          <a:prstGeom prst="rect">
            <a:avLst/>
          </a:prstGeom>
          <a:noFill/>
        </p:spPr>
        <p:txBody>
          <a:bodyPr wrap="square" lIns="9144" rIns="9144" tIns="9144" bIns="9144" anchor="t">
            <a:spAutoFit/>
          </a:bodyPr>
          <a:lstStyle/>
          <a:p>
            <a:pPr>
              <a:spcBef>
                <a:spcPts val="0"/>
              </a:spcBef>
              <a:spcAft>
                <a:spcPts val="1000"/>
              </a:spcAft>
            </a:pPr>
            <a:r>
              <a:rPr sz="1200">
                <a:solidFill>
                  <a:srgbClr val="000000"/>
                </a:solidFill>
                <a:latin typeface="Aptos"/>
              </a:rPr>
              <a:t>–  Vendors support troubleshooting, commissioning and maintenance.</a:t>
            </a:r>
          </a:p>
          <a:p>
            <a:pPr>
              <a:spcBef>
                <a:spcPts val="0"/>
              </a:spcBef>
              <a:spcAft>
                <a:spcPts val="1000"/>
              </a:spcAft>
            </a:pPr>
            <a:r>
              <a:rPr sz="1200">
                <a:solidFill>
                  <a:srgbClr val="000000"/>
                </a:solidFill>
                <a:latin typeface="Aptos"/>
              </a:rPr>
              <a:t>–  Access normally requires a connection from inside the company network.</a:t>
            </a:r>
          </a:p>
          <a:p>
            <a:pPr>
              <a:spcBef>
                <a:spcPts val="0"/>
              </a:spcBef>
              <a:spcAft>
                <a:spcPts val="1000"/>
              </a:spcAft>
            </a:pPr>
            <a:r>
              <a:rPr sz="1200">
                <a:solidFill>
                  <a:srgbClr val="000000"/>
                </a:solidFill>
                <a:latin typeface="Aptos"/>
              </a:rPr>
              <a:t>–  OT resources cannot currently be reached remotely like standard IT resources.</a:t>
            </a:r>
          </a:p>
        </p:txBody>
      </p:sp>
      <p:sp>
        <p:nvSpPr>
          <p:cNvPr id="11" name="Rounded Rectangle 10"/>
          <p:cNvSpPr/>
          <p:nvPr/>
        </p:nvSpPr>
        <p:spPr>
          <a:xfrm>
            <a:off x="4325112" y="1536192"/>
            <a:ext cx="3547872" cy="4151376"/>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25112" y="1536192"/>
            <a:ext cx="3547872" cy="100584"/>
          </a:xfrm>
          <a:prstGeom prst="rect">
            <a:avLst/>
          </a:prstGeom>
          <a:solidFill>
            <a:srgbClr val="C88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1810512"/>
            <a:ext cx="3108960" cy="438912"/>
          </a:xfrm>
          <a:prstGeom prst="rect">
            <a:avLst/>
          </a:prstGeom>
          <a:noFill/>
        </p:spPr>
        <p:txBody>
          <a:bodyPr wrap="square" lIns="9144" rIns="9144" tIns="9144" bIns="9144" anchor="t">
            <a:spAutoFit/>
          </a:bodyPr>
          <a:lstStyle/>
          <a:p>
            <a:pPr algn="l">
              <a:spcBef>
                <a:spcPts val="0"/>
              </a:spcBef>
              <a:spcAft>
                <a:spcPts val="0"/>
              </a:spcAft>
            </a:pPr>
            <a:r>
              <a:rPr sz="1800" b="1" i="0">
                <a:solidFill>
                  <a:srgbClr val="054E5A"/>
                </a:solidFill>
                <a:latin typeface="Aptos"/>
              </a:rPr>
              <a:t>Business impact</a:t>
            </a:r>
          </a:p>
        </p:txBody>
      </p:sp>
      <p:sp>
        <p:nvSpPr>
          <p:cNvPr id="14" name="TextBox 13"/>
          <p:cNvSpPr txBox="1"/>
          <p:nvPr/>
        </p:nvSpPr>
        <p:spPr>
          <a:xfrm>
            <a:off x="4553712" y="2450592"/>
            <a:ext cx="3063240" cy="2724912"/>
          </a:xfrm>
          <a:prstGeom prst="rect">
            <a:avLst/>
          </a:prstGeom>
          <a:noFill/>
        </p:spPr>
        <p:txBody>
          <a:bodyPr wrap="square" lIns="9144" rIns="9144" tIns="9144" bIns="9144" anchor="t">
            <a:spAutoFit/>
          </a:bodyPr>
          <a:lstStyle/>
          <a:p>
            <a:pPr>
              <a:spcBef>
                <a:spcPts val="0"/>
              </a:spcBef>
              <a:spcAft>
                <a:spcPts val="1000"/>
              </a:spcAft>
            </a:pPr>
            <a:r>
              <a:rPr sz="1200">
                <a:solidFill>
                  <a:srgbClr val="000000"/>
                </a:solidFill>
                <a:latin typeface="Aptos"/>
              </a:rPr>
              <a:t>–  Longer troubleshooting time</a:t>
            </a:r>
          </a:p>
          <a:p>
            <a:pPr>
              <a:spcBef>
                <a:spcPts val="0"/>
              </a:spcBef>
              <a:spcAft>
                <a:spcPts val="1000"/>
              </a:spcAft>
            </a:pPr>
            <a:r>
              <a:rPr sz="1200">
                <a:solidFill>
                  <a:srgbClr val="000000"/>
                </a:solidFill>
                <a:latin typeface="Aptos"/>
              </a:rPr>
              <a:t>–  Higher travel and support costs</a:t>
            </a:r>
          </a:p>
          <a:p>
            <a:pPr>
              <a:spcBef>
                <a:spcPts val="0"/>
              </a:spcBef>
              <a:spcAft>
                <a:spcPts val="1000"/>
              </a:spcAft>
            </a:pPr>
            <a:r>
              <a:rPr sz="1200">
                <a:solidFill>
                  <a:srgbClr val="000000"/>
                </a:solidFill>
                <a:latin typeface="Aptos"/>
              </a:rPr>
              <a:t>–  Greater dependency on onsite availability</a:t>
            </a:r>
          </a:p>
          <a:p>
            <a:pPr>
              <a:spcBef>
                <a:spcPts val="0"/>
              </a:spcBef>
              <a:spcAft>
                <a:spcPts val="1000"/>
              </a:spcAft>
            </a:pPr>
            <a:r>
              <a:rPr sz="1200">
                <a:solidFill>
                  <a:srgbClr val="000000"/>
                </a:solidFill>
                <a:latin typeface="Aptos"/>
              </a:rPr>
              <a:t>–  Slower recovery of production-related issues</a:t>
            </a:r>
          </a:p>
        </p:txBody>
      </p:sp>
      <p:sp>
        <p:nvSpPr>
          <p:cNvPr id="15" name="Rounded Rectangle 14"/>
          <p:cNvSpPr/>
          <p:nvPr/>
        </p:nvSpPr>
        <p:spPr>
          <a:xfrm>
            <a:off x="8101583" y="1536192"/>
            <a:ext cx="3547872" cy="4151376"/>
          </a:xfrm>
          <a:prstGeom prst="roundRect">
            <a:avLst/>
          </a:prstGeom>
          <a:solidFill>
            <a:srgbClr val="EDF0E8"/>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01583" y="1536192"/>
            <a:ext cx="3547872" cy="100584"/>
          </a:xfrm>
          <a:prstGeom prst="rect">
            <a:avLst/>
          </a:prstGeom>
          <a:solidFill>
            <a:srgbClr val="4F7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1810512"/>
            <a:ext cx="3108960" cy="438912"/>
          </a:xfrm>
          <a:prstGeom prst="rect">
            <a:avLst/>
          </a:prstGeom>
          <a:noFill/>
        </p:spPr>
        <p:txBody>
          <a:bodyPr wrap="square" lIns="9144" rIns="9144" tIns="9144" bIns="9144" anchor="t">
            <a:spAutoFit/>
          </a:bodyPr>
          <a:lstStyle/>
          <a:p>
            <a:pPr algn="l">
              <a:spcBef>
                <a:spcPts val="0"/>
              </a:spcBef>
              <a:spcAft>
                <a:spcPts val="0"/>
              </a:spcAft>
            </a:pPr>
            <a:r>
              <a:rPr sz="1800" b="1" i="0">
                <a:solidFill>
                  <a:srgbClr val="054E5A"/>
                </a:solidFill>
                <a:latin typeface="Aptos"/>
              </a:rPr>
              <a:t>Required capability</a:t>
            </a:r>
          </a:p>
        </p:txBody>
      </p:sp>
      <p:sp>
        <p:nvSpPr>
          <p:cNvPr id="18" name="TextBox 17"/>
          <p:cNvSpPr txBox="1"/>
          <p:nvPr/>
        </p:nvSpPr>
        <p:spPr>
          <a:xfrm>
            <a:off x="8330183" y="2450592"/>
            <a:ext cx="3063240" cy="2724912"/>
          </a:xfrm>
          <a:prstGeom prst="rect">
            <a:avLst/>
          </a:prstGeom>
          <a:noFill/>
        </p:spPr>
        <p:txBody>
          <a:bodyPr wrap="square" lIns="9144" rIns="9144" tIns="9144" bIns="9144" anchor="t">
            <a:spAutoFit/>
          </a:bodyPr>
          <a:lstStyle/>
          <a:p>
            <a:pPr>
              <a:spcBef>
                <a:spcPts val="0"/>
              </a:spcBef>
              <a:spcAft>
                <a:spcPts val="1000"/>
              </a:spcAft>
            </a:pPr>
            <a:r>
              <a:rPr sz="1200">
                <a:solidFill>
                  <a:srgbClr val="000000"/>
                </a:solidFill>
                <a:latin typeface="Aptos"/>
              </a:rPr>
              <a:t>–  Approved OT resources only</a:t>
            </a:r>
          </a:p>
          <a:p>
            <a:pPr>
              <a:spcBef>
                <a:spcPts val="0"/>
              </a:spcBef>
              <a:spcAft>
                <a:spcPts val="1000"/>
              </a:spcAft>
            </a:pPr>
            <a:r>
              <a:rPr sz="1200">
                <a:solidFill>
                  <a:srgbClr val="000000"/>
                </a:solidFill>
                <a:latin typeface="Aptos"/>
              </a:rPr>
              <a:t>–  Strong authentication and MFA</a:t>
            </a:r>
          </a:p>
          <a:p>
            <a:pPr>
              <a:spcBef>
                <a:spcPts val="0"/>
              </a:spcBef>
              <a:spcAft>
                <a:spcPts val="1000"/>
              </a:spcAft>
            </a:pPr>
            <a:r>
              <a:rPr sz="1200">
                <a:solidFill>
                  <a:srgbClr val="000000"/>
                </a:solidFill>
                <a:latin typeface="Aptos"/>
              </a:rPr>
              <a:t>–  Approval-based, time-limited access</a:t>
            </a:r>
          </a:p>
          <a:p>
            <a:pPr>
              <a:spcBef>
                <a:spcPts val="0"/>
              </a:spcBef>
              <a:spcAft>
                <a:spcPts val="1000"/>
              </a:spcAft>
            </a:pPr>
            <a:r>
              <a:rPr sz="1200">
                <a:solidFill>
                  <a:srgbClr val="000000"/>
                </a:solidFill>
                <a:latin typeface="Aptos"/>
              </a:rPr>
              <a:t>–  Automatic expiry, monitoring and audit</a:t>
            </a:r>
          </a:p>
          <a:p>
            <a:pPr>
              <a:spcBef>
                <a:spcPts val="0"/>
              </a:spcBef>
              <a:spcAft>
                <a:spcPts val="1000"/>
              </a:spcAft>
            </a:pPr>
            <a:r>
              <a:rPr sz="1200">
                <a:solidFill>
                  <a:srgbClr val="000000"/>
                </a:solidFill>
                <a:latin typeface="Aptos"/>
              </a:rPr>
              <a:t>–  No broad access to the OT network</a:t>
            </a:r>
          </a:p>
        </p:txBody>
      </p:sp>
      <p:sp>
        <p:nvSpPr>
          <p:cNvPr id="19" name="Rounded Rectangle 18"/>
          <p:cNvSpPr/>
          <p:nvPr/>
        </p:nvSpPr>
        <p:spPr>
          <a:xfrm>
            <a:off x="548640" y="5870448"/>
            <a:ext cx="11100816" cy="429768"/>
          </a:xfrm>
          <a:prstGeom prst="round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5925312"/>
            <a:ext cx="10698480" cy="292608"/>
          </a:xfrm>
          <a:prstGeom prst="rect">
            <a:avLst/>
          </a:prstGeom>
          <a:noFill/>
        </p:spPr>
        <p:txBody>
          <a:bodyPr wrap="square" lIns="9144" rIns="9144" tIns="9144" bIns="9144" anchor="ctr">
            <a:spAutoFit/>
          </a:bodyPr>
          <a:lstStyle/>
          <a:p>
            <a:pPr algn="ctr">
              <a:spcBef>
                <a:spcPts val="0"/>
              </a:spcBef>
              <a:spcAft>
                <a:spcPts val="0"/>
              </a:spcAft>
            </a:pPr>
            <a:r>
              <a:rPr sz="1360" b="1" i="0">
                <a:solidFill>
                  <a:srgbClr val="FFFFFF"/>
                </a:solidFill>
                <a:latin typeface="Aptos"/>
              </a:rPr>
              <a:t>Target: Secure, identity-based and time-limited access to specifically approved OT resources.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CECEC"/>
        </a:solidFill>
        <a:effectLst/>
      </p:bgPr>
    </p:bg>
    <p:spTree>
      <p:nvGrpSpPr>
        <p:cNvPr id="1" name=""/>
        <p:cNvGrpSpPr/>
        <p:nvPr/>
      </p:nvGrpSpPr>
      <p:grpSpPr/>
      <p:sp>
        <p:nvSpPr>
          <p:cNvPr id="2" name="TextBox 1"/>
          <p:cNvSpPr txBox="1"/>
          <p:nvPr/>
        </p:nvSpPr>
        <p:spPr>
          <a:xfrm>
            <a:off x="502920" y="310896"/>
            <a:ext cx="11155680" cy="502920"/>
          </a:xfrm>
          <a:prstGeom prst="rect">
            <a:avLst/>
          </a:prstGeom>
          <a:noFill/>
        </p:spPr>
        <p:txBody>
          <a:bodyPr wrap="square" lIns="9144" rIns="9144" tIns="9144" bIns="9144" anchor="t">
            <a:spAutoFit/>
          </a:bodyPr>
          <a:lstStyle/>
          <a:p>
            <a:pPr algn="l">
              <a:spcBef>
                <a:spcPts val="0"/>
              </a:spcBef>
              <a:spcAft>
                <a:spcPts val="0"/>
              </a:spcAft>
            </a:pPr>
            <a:r>
              <a:rPr sz="2700" b="1" i="0">
                <a:solidFill>
                  <a:srgbClr val="054E5A"/>
                </a:solidFill>
                <a:latin typeface="Aptos Display"/>
              </a:rPr>
              <a:t>Check Point SASE Is Being Evaluated Through a China POC</a:t>
            </a:r>
          </a:p>
        </p:txBody>
      </p:sp>
      <p:sp>
        <p:nvSpPr>
          <p:cNvPr id="3" name="Rectangle 2"/>
          <p:cNvSpPr/>
          <p:nvPr/>
        </p:nvSpPr>
        <p:spPr>
          <a:xfrm>
            <a:off x="521207" y="896112"/>
            <a:ext cx="658368" cy="50292"/>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87552"/>
            <a:ext cx="10972800" cy="310896"/>
          </a:xfrm>
          <a:prstGeom prst="rect">
            <a:avLst/>
          </a:prstGeom>
          <a:noFill/>
        </p:spPr>
        <p:txBody>
          <a:bodyPr wrap="square" lIns="9144" rIns="9144" tIns="9144" bIns="9144" anchor="t">
            <a:spAutoFit/>
          </a:bodyPr>
          <a:lstStyle/>
          <a:p>
            <a:pPr algn="l">
              <a:spcBef>
                <a:spcPts val="0"/>
              </a:spcBef>
              <a:spcAft>
                <a:spcPts val="0"/>
              </a:spcAft>
            </a:pPr>
            <a:r>
              <a:rPr sz="1220" b="0" i="0">
                <a:solidFill>
                  <a:srgbClr val="5C6A6C"/>
                </a:solidFill>
                <a:latin typeface="Aptos"/>
              </a:rPr>
              <a:t>Potential solution: validate the OT use case, security controls and China network compatibility.</a:t>
            </a:r>
          </a:p>
        </p:txBody>
      </p:sp>
      <p:sp>
        <p:nvSpPr>
          <p:cNvPr id="5" name="TextBox 4"/>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738083"/>
                </a:solidFill>
                <a:latin typeface="Aptos"/>
              </a:rPr>
              <a:t>OT/IoT MANAGEMENT  •  LOCAL IT  •  CENTRALOPS  •  CYBERSECURITY</a:t>
            </a:r>
          </a:p>
        </p:txBody>
      </p:sp>
      <p:sp>
        <p:nvSpPr>
          <p:cNvPr id="6" name="TextBox 5"/>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738083"/>
                </a:solidFill>
                <a:latin typeface="Aptos"/>
              </a:rPr>
              <a:t>07 / 08</a:t>
            </a:r>
          </a:p>
        </p:txBody>
      </p:sp>
      <p:sp>
        <p:nvSpPr>
          <p:cNvPr id="7" name="Rounded Rectangle 6"/>
          <p:cNvSpPr/>
          <p:nvPr/>
        </p:nvSpPr>
        <p:spPr>
          <a:xfrm>
            <a:off x="530352" y="1417320"/>
            <a:ext cx="1947672" cy="713232"/>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3503" y="1572768"/>
            <a:ext cx="1801368" cy="384048"/>
          </a:xfrm>
          <a:prstGeom prst="rect">
            <a:avLst/>
          </a:prstGeom>
          <a:noFill/>
        </p:spPr>
        <p:txBody>
          <a:bodyPr wrap="square" lIns="9144" rIns="9144" tIns="9144" bIns="9144" anchor="ctr">
            <a:spAutoFit/>
          </a:bodyPr>
          <a:lstStyle/>
          <a:p>
            <a:pPr algn="ctr">
              <a:spcBef>
                <a:spcPts val="0"/>
              </a:spcBef>
              <a:spcAft>
                <a:spcPts val="0"/>
              </a:spcAft>
            </a:pPr>
            <a:r>
              <a:rPr sz="1300" b="1" i="0">
                <a:solidFill>
                  <a:srgbClr val="054E5A"/>
                </a:solidFill>
                <a:latin typeface="Aptos"/>
              </a:rPr>
              <a:t>External Vendor</a:t>
            </a:r>
          </a:p>
        </p:txBody>
      </p:sp>
      <p:sp>
        <p:nvSpPr>
          <p:cNvPr id="9" name="Right Arrow 8"/>
          <p:cNvSpPr/>
          <p:nvPr/>
        </p:nvSpPr>
        <p:spPr>
          <a:xfrm>
            <a:off x="2532888" y="1673352"/>
            <a:ext cx="274320" cy="201168"/>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62072" y="1417320"/>
            <a:ext cx="1947672" cy="713232"/>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35224" y="1572768"/>
            <a:ext cx="1801368" cy="384048"/>
          </a:xfrm>
          <a:prstGeom prst="rect">
            <a:avLst/>
          </a:prstGeom>
          <a:noFill/>
        </p:spPr>
        <p:txBody>
          <a:bodyPr wrap="square" lIns="9144" rIns="9144" tIns="9144" bIns="9144" anchor="ctr">
            <a:spAutoFit/>
          </a:bodyPr>
          <a:lstStyle/>
          <a:p>
            <a:pPr algn="ctr">
              <a:spcBef>
                <a:spcPts val="0"/>
              </a:spcBef>
              <a:spcAft>
                <a:spcPts val="0"/>
              </a:spcAft>
            </a:pPr>
            <a:r>
              <a:rPr sz="1300" b="1" i="0">
                <a:solidFill>
                  <a:srgbClr val="054E5A"/>
                </a:solidFill>
                <a:latin typeface="Aptos"/>
              </a:rPr>
              <a:t>Identity + MFA</a:t>
            </a:r>
          </a:p>
        </p:txBody>
      </p:sp>
      <p:sp>
        <p:nvSpPr>
          <p:cNvPr id="12" name="Right Arrow 11"/>
          <p:cNvSpPr/>
          <p:nvPr/>
        </p:nvSpPr>
        <p:spPr>
          <a:xfrm>
            <a:off x="4864607" y="1673352"/>
            <a:ext cx="274320" cy="201168"/>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93792" y="1417320"/>
            <a:ext cx="1947672" cy="713232"/>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66944" y="1572768"/>
            <a:ext cx="1801368" cy="384048"/>
          </a:xfrm>
          <a:prstGeom prst="rect">
            <a:avLst/>
          </a:prstGeom>
          <a:noFill/>
        </p:spPr>
        <p:txBody>
          <a:bodyPr wrap="square" lIns="9144" rIns="9144" tIns="9144" bIns="9144" anchor="ctr">
            <a:spAutoFit/>
          </a:bodyPr>
          <a:lstStyle/>
          <a:p>
            <a:pPr algn="ctr">
              <a:spcBef>
                <a:spcPts val="0"/>
              </a:spcBef>
              <a:spcAft>
                <a:spcPts val="0"/>
              </a:spcAft>
            </a:pPr>
            <a:r>
              <a:rPr sz="1210" b="1" i="0">
                <a:solidFill>
                  <a:srgbClr val="054E5A"/>
                </a:solidFill>
                <a:latin typeface="Aptos"/>
              </a:rPr>
              <a:t>Check Point SASE</a:t>
            </a:r>
          </a:p>
        </p:txBody>
      </p:sp>
      <p:sp>
        <p:nvSpPr>
          <p:cNvPr id="15" name="Right Arrow 14"/>
          <p:cNvSpPr/>
          <p:nvPr/>
        </p:nvSpPr>
        <p:spPr>
          <a:xfrm>
            <a:off x="7196327" y="1673352"/>
            <a:ext cx="274320" cy="201168"/>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25511" y="1417320"/>
            <a:ext cx="1947672" cy="713232"/>
          </a:xfrm>
          <a:prstGeom prst="roundRect">
            <a:avLst/>
          </a:prstGeom>
          <a:solidFill>
            <a:srgbClr val="EDF0E8"/>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98663" y="1572768"/>
            <a:ext cx="1801368" cy="384048"/>
          </a:xfrm>
          <a:prstGeom prst="rect">
            <a:avLst/>
          </a:prstGeom>
          <a:noFill/>
        </p:spPr>
        <p:txBody>
          <a:bodyPr wrap="square" lIns="9144" rIns="9144" tIns="9144" bIns="9144" anchor="ctr">
            <a:spAutoFit/>
          </a:bodyPr>
          <a:lstStyle/>
          <a:p>
            <a:pPr algn="ctr">
              <a:spcBef>
                <a:spcPts val="0"/>
              </a:spcBef>
              <a:spcAft>
                <a:spcPts val="0"/>
              </a:spcAft>
            </a:pPr>
            <a:r>
              <a:rPr sz="1300" b="1" i="0">
                <a:solidFill>
                  <a:srgbClr val="054E5A"/>
                </a:solidFill>
                <a:latin typeface="Aptos"/>
              </a:rPr>
              <a:t>Access Policy</a:t>
            </a:r>
          </a:p>
        </p:txBody>
      </p:sp>
      <p:sp>
        <p:nvSpPr>
          <p:cNvPr id="18" name="Right Arrow 17"/>
          <p:cNvSpPr/>
          <p:nvPr/>
        </p:nvSpPr>
        <p:spPr>
          <a:xfrm>
            <a:off x="9528048" y="1673352"/>
            <a:ext cx="274320" cy="201168"/>
          </a:xfrm>
          <a:prstGeom prst="rightArrow">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857232" y="1417320"/>
            <a:ext cx="1947672" cy="713232"/>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30384" y="1572768"/>
            <a:ext cx="1801368" cy="384048"/>
          </a:xfrm>
          <a:prstGeom prst="rect">
            <a:avLst/>
          </a:prstGeom>
          <a:noFill/>
        </p:spPr>
        <p:txBody>
          <a:bodyPr wrap="square" lIns="9144" rIns="9144" tIns="9144" bIns="9144" anchor="ctr">
            <a:spAutoFit/>
          </a:bodyPr>
          <a:lstStyle/>
          <a:p>
            <a:pPr algn="ctr">
              <a:spcBef>
                <a:spcPts val="0"/>
              </a:spcBef>
              <a:spcAft>
                <a:spcPts val="0"/>
              </a:spcAft>
            </a:pPr>
            <a:r>
              <a:rPr sz="1210" b="1" i="0">
                <a:solidFill>
                  <a:srgbClr val="054E5A"/>
                </a:solidFill>
                <a:latin typeface="Aptos"/>
              </a:rPr>
              <a:t>Approved OT Resource</a:t>
            </a:r>
          </a:p>
        </p:txBody>
      </p:sp>
      <p:sp>
        <p:nvSpPr>
          <p:cNvPr id="21" name="Rounded Rectangle 20"/>
          <p:cNvSpPr/>
          <p:nvPr/>
        </p:nvSpPr>
        <p:spPr>
          <a:xfrm>
            <a:off x="530352" y="2450592"/>
            <a:ext cx="6812280" cy="2898648"/>
          </a:xfrm>
          <a:prstGeom prst="roundRect">
            <a:avLst/>
          </a:prstGeom>
          <a:solidFill>
            <a:srgbClr val="FFFFFF"/>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8096" y="2633472"/>
            <a:ext cx="6327648" cy="301752"/>
          </a:xfrm>
          <a:prstGeom prst="rect">
            <a:avLst/>
          </a:prstGeom>
          <a:noFill/>
        </p:spPr>
        <p:txBody>
          <a:bodyPr wrap="square" lIns="9144" rIns="9144" tIns="9144" bIns="9144" anchor="t">
            <a:spAutoFit/>
          </a:bodyPr>
          <a:lstStyle/>
          <a:p>
            <a:pPr algn="l">
              <a:spcBef>
                <a:spcPts val="0"/>
              </a:spcBef>
              <a:spcAft>
                <a:spcPts val="0"/>
              </a:spcAft>
            </a:pPr>
            <a:r>
              <a:rPr sz="1300" b="1" i="0">
                <a:solidFill>
                  <a:srgbClr val="054E5A"/>
                </a:solidFill>
                <a:latin typeface="Aptos"/>
              </a:rPr>
              <a:t>POC VALIDATION CHECKLIST</a:t>
            </a:r>
          </a:p>
        </p:txBody>
      </p:sp>
      <p:sp>
        <p:nvSpPr>
          <p:cNvPr id="23" name="Oval 22"/>
          <p:cNvSpPr/>
          <p:nvPr/>
        </p:nvSpPr>
        <p:spPr>
          <a:xfrm>
            <a:off x="786384" y="3154679"/>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159252"/>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25" name="TextBox 24"/>
          <p:cNvSpPr txBox="1"/>
          <p:nvPr/>
        </p:nvSpPr>
        <p:spPr>
          <a:xfrm>
            <a:off x="1078992" y="3127248"/>
            <a:ext cx="24688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Identity-based and least-privilege access</a:t>
            </a:r>
          </a:p>
        </p:txBody>
      </p:sp>
      <p:sp>
        <p:nvSpPr>
          <p:cNvPr id="26" name="Oval 25"/>
          <p:cNvSpPr/>
          <p:nvPr/>
        </p:nvSpPr>
        <p:spPr>
          <a:xfrm>
            <a:off x="786384" y="3630168"/>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3634740"/>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28" name="TextBox 27"/>
          <p:cNvSpPr txBox="1"/>
          <p:nvPr/>
        </p:nvSpPr>
        <p:spPr>
          <a:xfrm>
            <a:off x="1078992" y="3602736"/>
            <a:ext cx="24688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Access limited to specific applications or resources</a:t>
            </a:r>
          </a:p>
        </p:txBody>
      </p:sp>
      <p:sp>
        <p:nvSpPr>
          <p:cNvPr id="29" name="Oval 28"/>
          <p:cNvSpPr/>
          <p:nvPr/>
        </p:nvSpPr>
        <p:spPr>
          <a:xfrm>
            <a:off x="786384" y="4105656"/>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110228"/>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31" name="TextBox 30"/>
          <p:cNvSpPr txBox="1"/>
          <p:nvPr/>
        </p:nvSpPr>
        <p:spPr>
          <a:xfrm>
            <a:off x="1078992" y="4078224"/>
            <a:ext cx="24688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Support for third-party vendors and unmanaged devices</a:t>
            </a:r>
          </a:p>
        </p:txBody>
      </p:sp>
      <p:sp>
        <p:nvSpPr>
          <p:cNvPr id="32" name="Oval 31"/>
          <p:cNvSpPr/>
          <p:nvPr/>
        </p:nvSpPr>
        <p:spPr>
          <a:xfrm>
            <a:off x="786384" y="4581144"/>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585716"/>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34" name="TextBox 33"/>
          <p:cNvSpPr txBox="1"/>
          <p:nvPr/>
        </p:nvSpPr>
        <p:spPr>
          <a:xfrm>
            <a:off x="1078992" y="4553712"/>
            <a:ext cx="24688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Centralized access policy</a:t>
            </a:r>
          </a:p>
        </p:txBody>
      </p:sp>
      <p:sp>
        <p:nvSpPr>
          <p:cNvPr id="35" name="Oval 34"/>
          <p:cNvSpPr/>
          <p:nvPr/>
        </p:nvSpPr>
        <p:spPr>
          <a:xfrm>
            <a:off x="4005072" y="3154679"/>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41648" y="3159252"/>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37" name="TextBox 36"/>
          <p:cNvSpPr txBox="1"/>
          <p:nvPr/>
        </p:nvSpPr>
        <p:spPr>
          <a:xfrm>
            <a:off x="4297680" y="3127248"/>
            <a:ext cx="26974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Monitoring and audit records</a:t>
            </a:r>
          </a:p>
        </p:txBody>
      </p:sp>
      <p:sp>
        <p:nvSpPr>
          <p:cNvPr id="38" name="Oval 37"/>
          <p:cNvSpPr/>
          <p:nvPr/>
        </p:nvSpPr>
        <p:spPr>
          <a:xfrm>
            <a:off x="4005072" y="3630168"/>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041648" y="3634740"/>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40" name="TextBox 39"/>
          <p:cNvSpPr txBox="1"/>
          <p:nvPr/>
        </p:nvSpPr>
        <p:spPr>
          <a:xfrm>
            <a:off x="4297680" y="3602736"/>
            <a:ext cx="26974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China network-environment compatibility</a:t>
            </a:r>
          </a:p>
        </p:txBody>
      </p:sp>
      <p:sp>
        <p:nvSpPr>
          <p:cNvPr id="41" name="Oval 40"/>
          <p:cNvSpPr/>
          <p:nvPr/>
        </p:nvSpPr>
        <p:spPr>
          <a:xfrm>
            <a:off x="4005072" y="4105656"/>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41648" y="4110228"/>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43" name="TextBox 42"/>
          <p:cNvSpPr txBox="1"/>
          <p:nvPr/>
        </p:nvSpPr>
        <p:spPr>
          <a:xfrm>
            <a:off x="4297680" y="4078224"/>
            <a:ext cx="26974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OT use-case compatibility</a:t>
            </a:r>
          </a:p>
        </p:txBody>
      </p:sp>
      <p:sp>
        <p:nvSpPr>
          <p:cNvPr id="44" name="Oval 43"/>
          <p:cNvSpPr/>
          <p:nvPr/>
        </p:nvSpPr>
        <p:spPr>
          <a:xfrm>
            <a:off x="4005072" y="4581144"/>
            <a:ext cx="182880" cy="1828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041648" y="4585716"/>
            <a:ext cx="109728" cy="128016"/>
          </a:xfrm>
          <a:prstGeom prst="rect">
            <a:avLst/>
          </a:prstGeom>
          <a:noFill/>
        </p:spPr>
        <p:txBody>
          <a:bodyPr wrap="square" lIns="0" rIns="0" tIns="0" bIns="0" anchor="t">
            <a:spAutoFit/>
          </a:bodyPr>
          <a:lstStyle/>
          <a:p>
            <a:pPr algn="ctr">
              <a:spcBef>
                <a:spcPts val="0"/>
              </a:spcBef>
              <a:spcAft>
                <a:spcPts val="0"/>
              </a:spcAft>
            </a:pPr>
            <a:r>
              <a:rPr sz="900" b="1" i="0">
                <a:solidFill>
                  <a:srgbClr val="FFFFFF"/>
                </a:solidFill>
                <a:latin typeface="Aptos"/>
              </a:rPr>
              <a:t>✓</a:t>
            </a:r>
          </a:p>
        </p:txBody>
      </p:sp>
      <p:sp>
        <p:nvSpPr>
          <p:cNvPr id="46" name="TextBox 45"/>
          <p:cNvSpPr txBox="1"/>
          <p:nvPr/>
        </p:nvSpPr>
        <p:spPr>
          <a:xfrm>
            <a:off x="4297680" y="4553712"/>
            <a:ext cx="2697480" cy="402336"/>
          </a:xfrm>
          <a:prstGeom prst="rect">
            <a:avLst/>
          </a:prstGeom>
          <a:noFill/>
        </p:spPr>
        <p:txBody>
          <a:bodyPr wrap="square" lIns="9144" rIns="9144" tIns="9144" bIns="9144" anchor="t">
            <a:spAutoFit/>
          </a:bodyPr>
          <a:lstStyle/>
          <a:p>
            <a:pPr algn="l">
              <a:spcBef>
                <a:spcPts val="0"/>
              </a:spcBef>
              <a:spcAft>
                <a:spcPts val="0"/>
              </a:spcAft>
            </a:pPr>
            <a:r>
              <a:rPr sz="1080" b="0" i="0">
                <a:solidFill>
                  <a:srgbClr val="000000"/>
                </a:solidFill>
                <a:latin typeface="Aptos"/>
              </a:rPr>
              <a:t>Jump-server need and required OT protocol support</a:t>
            </a:r>
          </a:p>
        </p:txBody>
      </p:sp>
      <p:sp>
        <p:nvSpPr>
          <p:cNvPr id="47" name="Rounded Rectangle 46"/>
          <p:cNvSpPr/>
          <p:nvPr/>
        </p:nvSpPr>
        <p:spPr>
          <a:xfrm>
            <a:off x="7562088" y="2450592"/>
            <a:ext cx="4078224" cy="2898648"/>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18120" y="2642616"/>
            <a:ext cx="3538728" cy="301752"/>
          </a:xfrm>
          <a:prstGeom prst="rect">
            <a:avLst/>
          </a:prstGeom>
          <a:noFill/>
        </p:spPr>
        <p:txBody>
          <a:bodyPr wrap="square" lIns="9144" rIns="9144" tIns="9144" bIns="9144" anchor="t">
            <a:spAutoFit/>
          </a:bodyPr>
          <a:lstStyle/>
          <a:p>
            <a:pPr algn="l">
              <a:spcBef>
                <a:spcPts val="0"/>
              </a:spcBef>
              <a:spcAft>
                <a:spcPts val="0"/>
              </a:spcAft>
            </a:pPr>
            <a:r>
              <a:rPr sz="1300" b="1" i="0">
                <a:solidFill>
                  <a:srgbClr val="054E5A"/>
                </a:solidFill>
                <a:latin typeface="Aptos"/>
              </a:rPr>
              <a:t>PROPOSED POC TIMELINE</a:t>
            </a:r>
          </a:p>
        </p:txBody>
      </p:sp>
      <p:sp>
        <p:nvSpPr>
          <p:cNvPr id="49" name="Oval 48"/>
          <p:cNvSpPr/>
          <p:nvPr/>
        </p:nvSpPr>
        <p:spPr>
          <a:xfrm>
            <a:off x="7836408" y="3163824"/>
            <a:ext cx="411480" cy="411480"/>
          </a:xfrm>
          <a:prstGeom prst="ellipse">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36408" y="3163824"/>
            <a:ext cx="411480" cy="411480"/>
          </a:xfrm>
          <a:prstGeom prst="rect">
            <a:avLst/>
          </a:prstGeom>
          <a:noFill/>
        </p:spPr>
        <p:txBody>
          <a:bodyPr wrap="square" lIns="0" rIns="0" tIns="0" bIns="0" anchor="ctr">
            <a:spAutoFit/>
          </a:bodyPr>
          <a:lstStyle/>
          <a:p>
            <a:pPr algn="ctr">
              <a:spcBef>
                <a:spcPts val="0"/>
              </a:spcBef>
              <a:spcAft>
                <a:spcPts val="0"/>
              </a:spcAft>
            </a:pPr>
            <a:r>
              <a:rPr sz="1400" b="1" i="0">
                <a:solidFill>
                  <a:srgbClr val="054E5A"/>
                </a:solidFill>
                <a:latin typeface="Aptos"/>
              </a:rPr>
              <a:t>1</a:t>
            </a:r>
          </a:p>
        </p:txBody>
      </p:sp>
      <p:sp>
        <p:nvSpPr>
          <p:cNvPr id="51" name="TextBox 50"/>
          <p:cNvSpPr txBox="1"/>
          <p:nvPr/>
        </p:nvSpPr>
        <p:spPr>
          <a:xfrm>
            <a:off x="8375904" y="3154680"/>
            <a:ext cx="2834640" cy="246888"/>
          </a:xfrm>
          <a:prstGeom prst="rect">
            <a:avLst/>
          </a:prstGeom>
          <a:noFill/>
        </p:spPr>
        <p:txBody>
          <a:bodyPr wrap="square" lIns="9144" rIns="9144" tIns="9144" bIns="9144" anchor="t">
            <a:spAutoFit/>
          </a:bodyPr>
          <a:lstStyle/>
          <a:p>
            <a:pPr algn="l">
              <a:spcBef>
                <a:spcPts val="0"/>
              </a:spcBef>
              <a:spcAft>
                <a:spcPts val="0"/>
              </a:spcAft>
            </a:pPr>
            <a:r>
              <a:rPr sz="1400" b="1" i="0">
                <a:solidFill>
                  <a:srgbClr val="054E5A"/>
                </a:solidFill>
                <a:latin typeface="Aptos"/>
              </a:rPr>
              <a:t>Holiday week</a:t>
            </a:r>
          </a:p>
        </p:txBody>
      </p:sp>
      <p:sp>
        <p:nvSpPr>
          <p:cNvPr id="52" name="TextBox 51"/>
          <p:cNvSpPr txBox="1"/>
          <p:nvPr/>
        </p:nvSpPr>
        <p:spPr>
          <a:xfrm>
            <a:off x="8375904" y="3447288"/>
            <a:ext cx="2834640" cy="484632"/>
          </a:xfrm>
          <a:prstGeom prst="rect">
            <a:avLst/>
          </a:prstGeom>
          <a:noFill/>
        </p:spPr>
        <p:txBody>
          <a:bodyPr wrap="square" lIns="9144" rIns="9144" tIns="9144" bIns="9144" anchor="t">
            <a:spAutoFit/>
          </a:bodyPr>
          <a:lstStyle/>
          <a:p>
            <a:pPr algn="l">
              <a:spcBef>
                <a:spcPts val="0"/>
              </a:spcBef>
              <a:spcAft>
                <a:spcPts val="0"/>
              </a:spcAft>
            </a:pPr>
            <a:r>
              <a:rPr sz="1070" b="0" i="0">
                <a:solidFill>
                  <a:srgbClr val="000000"/>
                </a:solidFill>
                <a:latin typeface="Aptos"/>
              </a:rPr>
              <a:t>Prepare the firewall and start the Check Point SASE environment.</a:t>
            </a:r>
          </a:p>
        </p:txBody>
      </p:sp>
      <p:cxnSp>
        <p:nvCxnSpPr>
          <p:cNvPr id="53" name="Connector 52"/>
          <p:cNvCxnSpPr/>
          <p:nvPr/>
        </p:nvCxnSpPr>
        <p:spPr>
          <a:xfrm>
            <a:off x="8046720" y="3575304"/>
            <a:ext cx="0" cy="557783"/>
          </a:xfrm>
          <a:prstGeom prst="line">
            <a:avLst/>
          </a:prstGeom>
          <a:ln w="25400">
            <a:solidFill>
              <a:srgbClr val="A1A984"/>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7836408" y="4160520"/>
            <a:ext cx="411480" cy="411480"/>
          </a:xfrm>
          <a:prstGeom prst="ellipse">
            <a:avLst/>
          </a:prstGeom>
          <a:solidFill>
            <a:srgbClr val="A1A9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36408" y="4160520"/>
            <a:ext cx="411480" cy="411480"/>
          </a:xfrm>
          <a:prstGeom prst="rect">
            <a:avLst/>
          </a:prstGeom>
          <a:noFill/>
        </p:spPr>
        <p:txBody>
          <a:bodyPr wrap="square" lIns="0" rIns="0" tIns="0" bIns="0" anchor="ctr">
            <a:spAutoFit/>
          </a:bodyPr>
          <a:lstStyle/>
          <a:p>
            <a:pPr algn="ctr">
              <a:spcBef>
                <a:spcPts val="0"/>
              </a:spcBef>
              <a:spcAft>
                <a:spcPts val="0"/>
              </a:spcAft>
            </a:pPr>
            <a:r>
              <a:rPr sz="1400" b="1" i="0">
                <a:solidFill>
                  <a:srgbClr val="FFFFFF"/>
                </a:solidFill>
                <a:latin typeface="Aptos"/>
              </a:rPr>
              <a:t>2</a:t>
            </a:r>
          </a:p>
        </p:txBody>
      </p:sp>
      <p:sp>
        <p:nvSpPr>
          <p:cNvPr id="56" name="TextBox 55"/>
          <p:cNvSpPr txBox="1"/>
          <p:nvPr/>
        </p:nvSpPr>
        <p:spPr>
          <a:xfrm>
            <a:off x="8375904" y="4151376"/>
            <a:ext cx="2834640" cy="246888"/>
          </a:xfrm>
          <a:prstGeom prst="rect">
            <a:avLst/>
          </a:prstGeom>
          <a:noFill/>
        </p:spPr>
        <p:txBody>
          <a:bodyPr wrap="square" lIns="9144" rIns="9144" tIns="9144" bIns="9144" anchor="t">
            <a:spAutoFit/>
          </a:bodyPr>
          <a:lstStyle/>
          <a:p>
            <a:pPr algn="l">
              <a:spcBef>
                <a:spcPts val="0"/>
              </a:spcBef>
              <a:spcAft>
                <a:spcPts val="0"/>
              </a:spcAft>
            </a:pPr>
            <a:r>
              <a:rPr sz="1400" b="1" i="0">
                <a:solidFill>
                  <a:srgbClr val="054E5A"/>
                </a:solidFill>
                <a:latin typeface="Aptos"/>
              </a:rPr>
              <a:t>After the holiday</a:t>
            </a:r>
          </a:p>
        </p:txBody>
      </p:sp>
      <p:sp>
        <p:nvSpPr>
          <p:cNvPr id="57" name="TextBox 56"/>
          <p:cNvSpPr txBox="1"/>
          <p:nvPr/>
        </p:nvSpPr>
        <p:spPr>
          <a:xfrm>
            <a:off x="8375904" y="4443984"/>
            <a:ext cx="2834640" cy="530352"/>
          </a:xfrm>
          <a:prstGeom prst="rect">
            <a:avLst/>
          </a:prstGeom>
          <a:noFill/>
        </p:spPr>
        <p:txBody>
          <a:bodyPr wrap="square" lIns="9144" rIns="9144" tIns="9144" bIns="9144" anchor="t">
            <a:spAutoFit/>
          </a:bodyPr>
          <a:lstStyle/>
          <a:p>
            <a:pPr algn="l">
              <a:spcBef>
                <a:spcPts val="0"/>
              </a:spcBef>
              <a:spcAft>
                <a:spcPts val="0"/>
              </a:spcAft>
            </a:pPr>
            <a:r>
              <a:rPr sz="1070" b="0" i="0">
                <a:solidFill>
                  <a:srgbClr val="000000"/>
                </a:solidFill>
                <a:latin typeface="Aptos"/>
              </a:rPr>
              <a:t>Schedule a meeting, run remote-access tests and record findings.</a:t>
            </a:r>
          </a:p>
        </p:txBody>
      </p:sp>
      <p:sp>
        <p:nvSpPr>
          <p:cNvPr id="58" name="Rounded Rectangle 57"/>
          <p:cNvSpPr/>
          <p:nvPr/>
        </p:nvSpPr>
        <p:spPr>
          <a:xfrm>
            <a:off x="530352" y="5596128"/>
            <a:ext cx="11109960" cy="576072"/>
          </a:xfrm>
          <a:prstGeom prst="round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9808" y="5669280"/>
            <a:ext cx="10661904" cy="393192"/>
          </a:xfrm>
          <a:prstGeom prst="rect">
            <a:avLst/>
          </a:prstGeom>
          <a:noFill/>
        </p:spPr>
        <p:txBody>
          <a:bodyPr wrap="square" lIns="9144" rIns="9144" tIns="9144" bIns="9144" anchor="ctr">
            <a:spAutoFit/>
          </a:bodyPr>
          <a:lstStyle/>
          <a:p>
            <a:pPr algn="ctr">
              <a:spcBef>
                <a:spcPts val="0"/>
              </a:spcBef>
              <a:spcAft>
                <a:spcPts val="0"/>
              </a:spcAft>
            </a:pPr>
            <a:r>
              <a:rPr sz="1510" b="1" i="0">
                <a:solidFill>
                  <a:srgbClr val="E1B77E"/>
                </a:solidFill>
                <a:latin typeface="Aptos"/>
              </a:rPr>
              <a:t>PILOT IN PROGRESS — NOT YET A PRODUCTION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CECEC"/>
        </a:solidFill>
        <a:effectLst/>
      </p:bgPr>
    </p:bg>
    <p:spTree>
      <p:nvGrpSpPr>
        <p:cNvPr id="1" name=""/>
        <p:cNvGrpSpPr/>
        <p:nvPr/>
      </p:nvGrpSpPr>
      <p:grpSpPr/>
      <p:sp>
        <p:nvSpPr>
          <p:cNvPr id="2" name="TextBox 1"/>
          <p:cNvSpPr txBox="1"/>
          <p:nvPr/>
        </p:nvSpPr>
        <p:spPr>
          <a:xfrm>
            <a:off x="502920" y="310896"/>
            <a:ext cx="11155680" cy="502920"/>
          </a:xfrm>
          <a:prstGeom prst="rect">
            <a:avLst/>
          </a:prstGeom>
          <a:noFill/>
        </p:spPr>
        <p:txBody>
          <a:bodyPr wrap="square" lIns="9144" rIns="9144" tIns="9144" bIns="9144" anchor="t">
            <a:spAutoFit/>
          </a:bodyPr>
          <a:lstStyle/>
          <a:p>
            <a:pPr algn="l">
              <a:spcBef>
                <a:spcPts val="0"/>
              </a:spcBef>
              <a:spcAft>
                <a:spcPts val="0"/>
              </a:spcAft>
            </a:pPr>
            <a:r>
              <a:rPr sz="2700" b="1" i="0">
                <a:solidFill>
                  <a:srgbClr val="054E5A"/>
                </a:solidFill>
                <a:latin typeface="Aptos Display"/>
              </a:rPr>
              <a:t>Turn Current Progress into a Sustainable Operating Model</a:t>
            </a:r>
          </a:p>
        </p:txBody>
      </p:sp>
      <p:sp>
        <p:nvSpPr>
          <p:cNvPr id="3" name="Rectangle 2"/>
          <p:cNvSpPr/>
          <p:nvPr/>
        </p:nvSpPr>
        <p:spPr>
          <a:xfrm>
            <a:off x="521207" y="896112"/>
            <a:ext cx="658368" cy="50292"/>
          </a:xfrm>
          <a:prstGeom prst="rect">
            <a:avLst/>
          </a:prstGeom>
          <a:solidFill>
            <a:srgbClr val="E1B7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87552"/>
            <a:ext cx="10972800" cy="310896"/>
          </a:xfrm>
          <a:prstGeom prst="rect">
            <a:avLst/>
          </a:prstGeom>
          <a:noFill/>
        </p:spPr>
        <p:txBody>
          <a:bodyPr wrap="square" lIns="9144" rIns="9144" tIns="9144" bIns="9144" anchor="t">
            <a:spAutoFit/>
          </a:bodyPr>
          <a:lstStyle/>
          <a:p>
            <a:pPr algn="l">
              <a:spcBef>
                <a:spcPts val="0"/>
              </a:spcBef>
              <a:spcAft>
                <a:spcPts val="0"/>
              </a:spcAft>
            </a:pPr>
            <a:r>
              <a:rPr sz="1220" b="0" i="0">
                <a:solidFill>
                  <a:srgbClr val="5C6A6C"/>
                </a:solidFill>
                <a:latin typeface="Aptos"/>
              </a:rPr>
              <a:t>Three workstreams need to progress in parallel, with cross-team ownership where required.</a:t>
            </a:r>
          </a:p>
        </p:txBody>
      </p:sp>
      <p:sp>
        <p:nvSpPr>
          <p:cNvPr id="5" name="TextBox 4"/>
          <p:cNvSpPr txBox="1"/>
          <p:nvPr/>
        </p:nvSpPr>
        <p:spPr>
          <a:xfrm>
            <a:off x="521207" y="6537960"/>
            <a:ext cx="7772400" cy="164592"/>
          </a:xfrm>
          <a:prstGeom prst="rect">
            <a:avLst/>
          </a:prstGeom>
          <a:noFill/>
        </p:spPr>
        <p:txBody>
          <a:bodyPr wrap="square" lIns="0" rIns="0" tIns="0" bIns="0" anchor="t">
            <a:spAutoFit/>
          </a:bodyPr>
          <a:lstStyle/>
          <a:p>
            <a:pPr algn="l">
              <a:spcBef>
                <a:spcPts val="0"/>
              </a:spcBef>
              <a:spcAft>
                <a:spcPts val="0"/>
              </a:spcAft>
            </a:pPr>
            <a:r>
              <a:rPr sz="800" b="0" i="0">
                <a:solidFill>
                  <a:srgbClr val="738083"/>
                </a:solidFill>
                <a:latin typeface="Aptos"/>
              </a:rPr>
              <a:t>OT/IoT MANAGEMENT  •  LOCAL IT  •  CENTRALOPS  •  CYBERSECURITY</a:t>
            </a:r>
          </a:p>
        </p:txBody>
      </p:sp>
      <p:sp>
        <p:nvSpPr>
          <p:cNvPr id="6" name="TextBox 5"/>
          <p:cNvSpPr txBox="1"/>
          <p:nvPr/>
        </p:nvSpPr>
        <p:spPr>
          <a:xfrm>
            <a:off x="11228832" y="6510528"/>
            <a:ext cx="411480" cy="201168"/>
          </a:xfrm>
          <a:prstGeom prst="rect">
            <a:avLst/>
          </a:prstGeom>
          <a:noFill/>
        </p:spPr>
        <p:txBody>
          <a:bodyPr wrap="square" lIns="0" rIns="0" tIns="0" bIns="0" anchor="t">
            <a:spAutoFit/>
          </a:bodyPr>
          <a:lstStyle/>
          <a:p>
            <a:pPr algn="r">
              <a:spcBef>
                <a:spcPts val="0"/>
              </a:spcBef>
              <a:spcAft>
                <a:spcPts val="0"/>
              </a:spcAft>
            </a:pPr>
            <a:r>
              <a:rPr sz="800" b="0" i="0">
                <a:solidFill>
                  <a:srgbClr val="738083"/>
                </a:solidFill>
                <a:latin typeface="Aptos"/>
              </a:rPr>
              <a:t>08 / 08</a:t>
            </a:r>
          </a:p>
        </p:txBody>
      </p:sp>
      <p:sp>
        <p:nvSpPr>
          <p:cNvPr id="7" name="Rounded Rectangle 6"/>
          <p:cNvSpPr/>
          <p:nvPr/>
        </p:nvSpPr>
        <p:spPr>
          <a:xfrm>
            <a:off x="548640" y="1527048"/>
            <a:ext cx="3547872" cy="3730752"/>
          </a:xfrm>
          <a:prstGeom prst="roundRect">
            <a:avLst/>
          </a:prstGeom>
          <a:solidFill>
            <a:srgbClr val="E4EFF0"/>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27048"/>
            <a:ext cx="3547872" cy="100584"/>
          </a:xfrm>
          <a:prstGeom prst="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58952" y="1828800"/>
            <a:ext cx="438912" cy="438912"/>
          </a:xfrm>
          <a:prstGeom prst="ellipse">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828800"/>
            <a:ext cx="438912" cy="438912"/>
          </a:xfrm>
          <a:prstGeom prst="rect">
            <a:avLst/>
          </a:prstGeom>
          <a:noFill/>
        </p:spPr>
        <p:txBody>
          <a:bodyPr wrap="square" lIns="0" rIns="0" tIns="0" bIns="0" anchor="ctr">
            <a:spAutoFit/>
          </a:bodyPr>
          <a:lstStyle/>
          <a:p>
            <a:pPr algn="ctr">
              <a:spcBef>
                <a:spcPts val="0"/>
              </a:spcBef>
              <a:spcAft>
                <a:spcPts val="0"/>
              </a:spcAft>
            </a:pPr>
            <a:r>
              <a:rPr sz="1200" b="1" i="0">
                <a:solidFill>
                  <a:srgbClr val="054E5A"/>
                </a:solidFill>
                <a:latin typeface="Aptos"/>
              </a:rPr>
              <a:t>01</a:t>
            </a:r>
          </a:p>
        </p:txBody>
      </p:sp>
      <p:sp>
        <p:nvSpPr>
          <p:cNvPr id="11" name="TextBox 10"/>
          <p:cNvSpPr txBox="1"/>
          <p:nvPr/>
        </p:nvSpPr>
        <p:spPr>
          <a:xfrm>
            <a:off x="1298448" y="1837943"/>
            <a:ext cx="2542032" cy="393192"/>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Device management</a:t>
            </a:r>
          </a:p>
        </p:txBody>
      </p:sp>
      <p:sp>
        <p:nvSpPr>
          <p:cNvPr id="12" name="TextBox 11"/>
          <p:cNvSpPr txBox="1"/>
          <p:nvPr/>
        </p:nvSpPr>
        <p:spPr>
          <a:xfrm>
            <a:off x="786384" y="2560320"/>
            <a:ext cx="3054096" cy="2304288"/>
          </a:xfrm>
          <a:prstGeom prst="rect">
            <a:avLst/>
          </a:prstGeom>
          <a:noFill/>
        </p:spPr>
        <p:txBody>
          <a:bodyPr wrap="square" lIns="9144" rIns="9144" tIns="9144" bIns="9144" anchor="t">
            <a:spAutoFit/>
          </a:bodyPr>
          <a:lstStyle/>
          <a:p>
            <a:pPr>
              <a:spcBef>
                <a:spcPts val="0"/>
              </a:spcBef>
              <a:spcAft>
                <a:spcPts val="1200"/>
              </a:spcAft>
            </a:pPr>
            <a:r>
              <a:rPr sz="1180">
                <a:solidFill>
                  <a:srgbClr val="000000"/>
                </a:solidFill>
                <a:latin typeface="Aptos"/>
              </a:rPr>
              <a:t>–  Continue the standardized onboarding process.</a:t>
            </a:r>
          </a:p>
          <a:p>
            <a:pPr>
              <a:spcBef>
                <a:spcPts val="0"/>
              </a:spcBef>
              <a:spcAft>
                <a:spcPts val="1200"/>
              </a:spcAft>
            </a:pPr>
            <a:r>
              <a:rPr sz="1180">
                <a:solidFill>
                  <a:srgbClr val="000000"/>
                </a:solidFill>
                <a:latin typeface="Aptos"/>
              </a:rPr>
              <a:t>–  Improve consistency across EDO and Catalyst Center.</a:t>
            </a:r>
          </a:p>
          <a:p>
            <a:pPr>
              <a:spcBef>
                <a:spcPts val="0"/>
              </a:spcBef>
              <a:spcAft>
                <a:spcPts val="1200"/>
              </a:spcAft>
            </a:pPr>
            <a:r>
              <a:rPr sz="1180">
                <a:solidFill>
                  <a:srgbClr val="000000"/>
                </a:solidFill>
                <a:latin typeface="Aptos"/>
              </a:rPr>
              <a:t>–  Reduce manual maintenance and file-upload effort.</a:t>
            </a:r>
          </a:p>
        </p:txBody>
      </p:sp>
      <p:sp>
        <p:nvSpPr>
          <p:cNvPr id="13" name="Rounded Rectangle 12"/>
          <p:cNvSpPr/>
          <p:nvPr/>
        </p:nvSpPr>
        <p:spPr>
          <a:xfrm>
            <a:off x="4325112" y="1527048"/>
            <a:ext cx="3547872" cy="3730752"/>
          </a:xfrm>
          <a:prstGeom prst="roundRect">
            <a:avLst/>
          </a:prstGeom>
          <a:solidFill>
            <a:srgbClr val="F6EFE4"/>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1527048"/>
            <a:ext cx="3547872" cy="100584"/>
          </a:xfrm>
          <a:prstGeom prst="rect">
            <a:avLst/>
          </a:prstGeom>
          <a:solidFill>
            <a:srgbClr val="C88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535424" y="1828800"/>
            <a:ext cx="438912" cy="438912"/>
          </a:xfrm>
          <a:prstGeom prst="ellipse">
            <a:avLst/>
          </a:prstGeom>
          <a:solidFill>
            <a:srgbClr val="C88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1828800"/>
            <a:ext cx="438912" cy="438912"/>
          </a:xfrm>
          <a:prstGeom prst="rect">
            <a:avLst/>
          </a:prstGeom>
          <a:noFill/>
        </p:spPr>
        <p:txBody>
          <a:bodyPr wrap="square" lIns="0" rIns="0" tIns="0" bIns="0" anchor="ctr">
            <a:spAutoFit/>
          </a:bodyPr>
          <a:lstStyle/>
          <a:p>
            <a:pPr algn="ctr">
              <a:spcBef>
                <a:spcPts val="0"/>
              </a:spcBef>
              <a:spcAft>
                <a:spcPts val="0"/>
              </a:spcAft>
            </a:pPr>
            <a:r>
              <a:rPr sz="1200" b="1" i="0">
                <a:solidFill>
                  <a:srgbClr val="054E5A"/>
                </a:solidFill>
                <a:latin typeface="Aptos"/>
              </a:rPr>
              <a:t>02</a:t>
            </a:r>
          </a:p>
        </p:txBody>
      </p:sp>
      <p:sp>
        <p:nvSpPr>
          <p:cNvPr id="17" name="TextBox 16"/>
          <p:cNvSpPr txBox="1"/>
          <p:nvPr/>
        </p:nvSpPr>
        <p:spPr>
          <a:xfrm>
            <a:off x="5074920" y="1837943"/>
            <a:ext cx="2542032" cy="393192"/>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Security tag issue</a:t>
            </a:r>
          </a:p>
        </p:txBody>
      </p:sp>
      <p:sp>
        <p:nvSpPr>
          <p:cNvPr id="18" name="TextBox 17"/>
          <p:cNvSpPr txBox="1"/>
          <p:nvPr/>
        </p:nvSpPr>
        <p:spPr>
          <a:xfrm>
            <a:off x="4562856" y="2560320"/>
            <a:ext cx="3054096" cy="2304288"/>
          </a:xfrm>
          <a:prstGeom prst="rect">
            <a:avLst/>
          </a:prstGeom>
          <a:noFill/>
        </p:spPr>
        <p:txBody>
          <a:bodyPr wrap="square" lIns="9144" rIns="9144" tIns="9144" bIns="9144" anchor="t">
            <a:spAutoFit/>
          </a:bodyPr>
          <a:lstStyle/>
          <a:p>
            <a:pPr>
              <a:spcBef>
                <a:spcPts val="0"/>
              </a:spcBef>
              <a:spcAft>
                <a:spcPts val="1200"/>
              </a:spcAft>
            </a:pPr>
            <a:r>
              <a:rPr sz="1180">
                <a:solidFill>
                  <a:srgbClr val="000000"/>
                </a:solidFill>
                <a:latin typeface="Aptos"/>
              </a:rPr>
              <a:t>–  Trace tag delivery from ISE through IDC to the firewall.</a:t>
            </a:r>
          </a:p>
          <a:p>
            <a:pPr>
              <a:spcBef>
                <a:spcPts val="0"/>
              </a:spcBef>
              <a:spcAft>
                <a:spcPts val="1200"/>
              </a:spcAft>
            </a:pPr>
            <a:r>
              <a:rPr sz="1180">
                <a:solidFill>
                  <a:srgbClr val="000000"/>
                </a:solidFill>
                <a:latin typeface="Aptos"/>
              </a:rPr>
              <a:t>–  Confirm ownership and root cause with end-to-end evidence.</a:t>
            </a:r>
          </a:p>
          <a:p>
            <a:pPr>
              <a:spcBef>
                <a:spcPts val="0"/>
              </a:spcBef>
              <a:spcAft>
                <a:spcPts val="1200"/>
              </a:spcAft>
            </a:pPr>
            <a:r>
              <a:rPr sz="1180">
                <a:solidFill>
                  <a:srgbClr val="000000"/>
                </a:solidFill>
                <a:latin typeface="Aptos"/>
              </a:rPr>
              <a:t>–  Define monitoring for future synchronization failures.</a:t>
            </a:r>
          </a:p>
        </p:txBody>
      </p:sp>
      <p:sp>
        <p:nvSpPr>
          <p:cNvPr id="19" name="Rounded Rectangle 18"/>
          <p:cNvSpPr/>
          <p:nvPr/>
        </p:nvSpPr>
        <p:spPr>
          <a:xfrm>
            <a:off x="8101583" y="1527048"/>
            <a:ext cx="3547872" cy="3730752"/>
          </a:xfrm>
          <a:prstGeom prst="roundRect">
            <a:avLst/>
          </a:prstGeom>
          <a:solidFill>
            <a:srgbClr val="EDF0E8"/>
          </a:solidFill>
          <a:ln w="12700">
            <a:solidFill>
              <a:srgbClr val="D5DC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1583" y="1527048"/>
            <a:ext cx="3547872" cy="100584"/>
          </a:xfrm>
          <a:prstGeom prst="rect">
            <a:avLst/>
          </a:prstGeom>
          <a:solidFill>
            <a:srgbClr val="4F7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11896" y="1828800"/>
            <a:ext cx="438912" cy="438912"/>
          </a:xfrm>
          <a:prstGeom prst="ellipse">
            <a:avLst/>
          </a:prstGeom>
          <a:solidFill>
            <a:srgbClr val="4F7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1828800"/>
            <a:ext cx="438912" cy="438912"/>
          </a:xfrm>
          <a:prstGeom prst="rect">
            <a:avLst/>
          </a:prstGeom>
          <a:noFill/>
        </p:spPr>
        <p:txBody>
          <a:bodyPr wrap="square" lIns="0" rIns="0" tIns="0" bIns="0" anchor="ctr">
            <a:spAutoFit/>
          </a:bodyPr>
          <a:lstStyle/>
          <a:p>
            <a:pPr algn="ctr">
              <a:spcBef>
                <a:spcPts val="0"/>
              </a:spcBef>
              <a:spcAft>
                <a:spcPts val="0"/>
              </a:spcAft>
            </a:pPr>
            <a:r>
              <a:rPr sz="1200" b="1" i="0">
                <a:solidFill>
                  <a:srgbClr val="FFFFFF"/>
                </a:solidFill>
                <a:latin typeface="Aptos"/>
              </a:rPr>
              <a:t>03</a:t>
            </a:r>
          </a:p>
        </p:txBody>
      </p:sp>
      <p:sp>
        <p:nvSpPr>
          <p:cNvPr id="23" name="TextBox 22"/>
          <p:cNvSpPr txBox="1"/>
          <p:nvPr/>
        </p:nvSpPr>
        <p:spPr>
          <a:xfrm>
            <a:off x="8851392" y="1837943"/>
            <a:ext cx="2542032" cy="393192"/>
          </a:xfrm>
          <a:prstGeom prst="rect">
            <a:avLst/>
          </a:prstGeom>
          <a:noFill/>
        </p:spPr>
        <p:txBody>
          <a:bodyPr wrap="square" lIns="9144" rIns="9144" tIns="9144" bIns="9144" anchor="t">
            <a:spAutoFit/>
          </a:bodyPr>
          <a:lstStyle/>
          <a:p>
            <a:pPr algn="l">
              <a:spcBef>
                <a:spcPts val="0"/>
              </a:spcBef>
              <a:spcAft>
                <a:spcPts val="0"/>
              </a:spcAft>
            </a:pPr>
            <a:r>
              <a:rPr sz="1700" b="1" i="0">
                <a:solidFill>
                  <a:srgbClr val="054E5A"/>
                </a:solidFill>
                <a:latin typeface="Aptos"/>
              </a:rPr>
              <a:t>Vendor remote access</a:t>
            </a:r>
          </a:p>
        </p:txBody>
      </p:sp>
      <p:sp>
        <p:nvSpPr>
          <p:cNvPr id="24" name="TextBox 23"/>
          <p:cNvSpPr txBox="1"/>
          <p:nvPr/>
        </p:nvSpPr>
        <p:spPr>
          <a:xfrm>
            <a:off x="8339327" y="2560320"/>
            <a:ext cx="3054096" cy="2304288"/>
          </a:xfrm>
          <a:prstGeom prst="rect">
            <a:avLst/>
          </a:prstGeom>
          <a:noFill/>
        </p:spPr>
        <p:txBody>
          <a:bodyPr wrap="square" lIns="9144" rIns="9144" tIns="9144" bIns="9144" anchor="t">
            <a:spAutoFit/>
          </a:bodyPr>
          <a:lstStyle/>
          <a:p>
            <a:pPr>
              <a:spcBef>
                <a:spcPts val="0"/>
              </a:spcBef>
              <a:spcAft>
                <a:spcPts val="1200"/>
              </a:spcAft>
            </a:pPr>
            <a:r>
              <a:rPr sz="1180">
                <a:solidFill>
                  <a:srgbClr val="000000"/>
                </a:solidFill>
                <a:latin typeface="Aptos"/>
              </a:rPr>
              <a:t>–  Prepare the China SASE test environment.</a:t>
            </a:r>
          </a:p>
          <a:p>
            <a:pPr>
              <a:spcBef>
                <a:spcPts val="0"/>
              </a:spcBef>
              <a:spcAft>
                <a:spcPts val="1200"/>
              </a:spcAft>
            </a:pPr>
            <a:r>
              <a:rPr sz="1180">
                <a:solidFill>
                  <a:srgbClr val="000000"/>
                </a:solidFill>
                <a:latin typeface="Aptos"/>
              </a:rPr>
              <a:t>–  Run a controlled, OT-focused proof of concept.</a:t>
            </a:r>
          </a:p>
          <a:p>
            <a:pPr>
              <a:spcBef>
                <a:spcPts val="0"/>
              </a:spcBef>
              <a:spcAft>
                <a:spcPts val="1200"/>
              </a:spcAft>
            </a:pPr>
            <a:r>
              <a:rPr sz="1180">
                <a:solidFill>
                  <a:srgbClr val="000000"/>
                </a:solidFill>
                <a:latin typeface="Aptos"/>
              </a:rPr>
              <a:t>–  Define approval, access expiry and audit controls.</a:t>
            </a:r>
          </a:p>
        </p:txBody>
      </p:sp>
      <p:sp>
        <p:nvSpPr>
          <p:cNvPr id="25" name="Rounded Rectangle 24"/>
          <p:cNvSpPr/>
          <p:nvPr/>
        </p:nvSpPr>
        <p:spPr>
          <a:xfrm>
            <a:off x="548640" y="5513832"/>
            <a:ext cx="11100816" cy="694944"/>
          </a:xfrm>
          <a:prstGeom prst="roundRect">
            <a:avLst/>
          </a:prstGeom>
          <a:solidFill>
            <a:srgbClr val="05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6384" y="5614416"/>
            <a:ext cx="1554480" cy="329184"/>
          </a:xfrm>
          <a:prstGeom prst="rect">
            <a:avLst/>
          </a:prstGeom>
          <a:noFill/>
        </p:spPr>
        <p:txBody>
          <a:bodyPr wrap="square" lIns="9144" rIns="9144" tIns="9144" bIns="9144" anchor="ctr">
            <a:spAutoFit/>
          </a:bodyPr>
          <a:lstStyle/>
          <a:p>
            <a:pPr algn="l">
              <a:spcBef>
                <a:spcPts val="0"/>
              </a:spcBef>
              <a:spcAft>
                <a:spcPts val="0"/>
              </a:spcAft>
            </a:pPr>
            <a:r>
              <a:rPr sz="1050" b="1" i="0">
                <a:solidFill>
                  <a:srgbClr val="E1B77E"/>
                </a:solidFill>
                <a:latin typeface="Aptos"/>
              </a:rPr>
              <a:t>SUPPORT NEEDED</a:t>
            </a:r>
          </a:p>
        </p:txBody>
      </p:sp>
      <p:sp>
        <p:nvSpPr>
          <p:cNvPr id="27" name="TextBox 26"/>
          <p:cNvSpPr txBox="1"/>
          <p:nvPr/>
        </p:nvSpPr>
        <p:spPr>
          <a:xfrm>
            <a:off x="2331720" y="5605272"/>
            <a:ext cx="8961120" cy="356616"/>
          </a:xfrm>
          <a:prstGeom prst="rect">
            <a:avLst/>
          </a:prstGeom>
          <a:noFill/>
        </p:spPr>
        <p:txBody>
          <a:bodyPr wrap="square" lIns="9144" rIns="9144" tIns="9144" bIns="9144" anchor="ctr">
            <a:spAutoFit/>
          </a:bodyPr>
          <a:lstStyle/>
          <a:p>
            <a:pPr algn="l">
              <a:spcBef>
                <a:spcPts val="0"/>
              </a:spcBef>
              <a:spcAft>
                <a:spcPts val="0"/>
              </a:spcAft>
            </a:pPr>
            <a:r>
              <a:rPr sz="1330" b="1" i="0">
                <a:solidFill>
                  <a:srgbClr val="FFFFFF"/>
                </a:solidFill>
                <a:latin typeface="Aptos"/>
              </a:rPr>
              <a:t>Cross-team ownership for RITM1404207 and alignment on the OT-focused SASE POC.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OT/IoT Management Progress and Key Challenges</dc:title>
  <dc:subject>Device onboarding, OT/IoT data visibility, security tag delivery and secure vendor remote access</dc:subject>
  <dc:creator>OpenAI</dc:creator>
  <cp:keywords>OT, IoT, onboarding, CentralOps, Local IT, cybersecurity, SASE POC</cp:keywords>
  <dc:description>Prepared from the user-provided briefing. Referenced PDF attachments were not accessible in the session.</dc:description>
  <cp:lastModifiedBy>Steve Canny</cp:lastModifiedBy>
  <cp:revision>1</cp:revision>
  <dcterms:created xsi:type="dcterms:W3CDTF">2013-01-27T09:14:16Z</dcterms:created>
  <dcterms:modified xsi:type="dcterms:W3CDTF">2013-01-27T09:15:58Z</dcterms:modified>
  <cp:category/>
</cp:coreProperties>
</file>